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68" r:id="rId4"/>
    <p:sldId id="258" r:id="rId5"/>
    <p:sldId id="269" r:id="rId6"/>
    <p:sldId id="259" r:id="rId7"/>
    <p:sldId id="260" r:id="rId8"/>
    <p:sldId id="263" r:id="rId9"/>
    <p:sldId id="264" r:id="rId10"/>
    <p:sldId id="265" r:id="rId11"/>
    <p:sldId id="266" r:id="rId12"/>
    <p:sldId id="261" r:id="rId13"/>
    <p:sldId id="262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2AC596-8224-4D20-8F7F-3FB6293E24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48C790-C956-4CDE-A137-56921741F4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BDFFA-6356-4453-A0A5-81C13A4EE132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4F8F4-AECB-443D-BC08-E1B53DB555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A8C3D-3FF3-483E-8C0B-D48B7E2205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AE652-3F9C-41CC-9107-F06B7239F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2010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83781-244B-48CA-A806-1BB6042C8B6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3BDBE-45D3-40C2-9CB8-FED08FCEC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225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۱۴۰۴/۴/۳۰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C16284-1E5C-4F11-AE96-BC4A057A298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858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 rtl="1">
              <a:defRPr>
                <a:latin typeface="XB Zar" panose="02000506090000020003" pitchFamily="2" charset="-78"/>
                <a:cs typeface="XB Zar" panose="02000506090000020003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>
                <a:latin typeface="XB Zar" panose="02000506090000020003" pitchFamily="2" charset="-78"/>
                <a:cs typeface="XB Zar" panose="02000506090000020003" pitchFamily="2" charset="-78"/>
              </a:defRPr>
            </a:lvl1pPr>
            <a:lvl2pPr algn="r" rtl="1">
              <a:defRPr>
                <a:latin typeface="XB Zar" panose="02000506090000020003" pitchFamily="2" charset="-78"/>
                <a:cs typeface="XB Zar" panose="02000506090000020003" pitchFamily="2" charset="-78"/>
              </a:defRPr>
            </a:lvl2pPr>
            <a:lvl3pPr algn="r" rtl="1">
              <a:defRPr>
                <a:latin typeface="XB Zar" panose="02000506090000020003" pitchFamily="2" charset="-78"/>
                <a:cs typeface="XB Zar" panose="02000506090000020003" pitchFamily="2" charset="-78"/>
              </a:defRPr>
            </a:lvl3pPr>
            <a:lvl4pPr algn="r" rtl="1">
              <a:defRPr>
                <a:latin typeface="XB Zar" panose="02000506090000020003" pitchFamily="2" charset="-78"/>
                <a:cs typeface="XB Zar" panose="02000506090000020003" pitchFamily="2" charset="-78"/>
              </a:defRPr>
            </a:lvl4pPr>
            <a:lvl5pPr algn="r" rtl="1">
              <a:defRPr>
                <a:latin typeface="XB Zar" panose="02000506090000020003" pitchFamily="2" charset="-78"/>
                <a:cs typeface="XB Zar" panose="02000506090000020003" pitchFamily="2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5323" y="6187440"/>
            <a:ext cx="2329074" cy="365125"/>
          </a:xfrm>
        </p:spPr>
        <p:txBody>
          <a:bodyPr/>
          <a:lstStyle>
            <a:lvl1pPr>
              <a:defRPr sz="1200" b="0" i="0" u="none">
                <a:effectLst/>
                <a:latin typeface="XB Zar" panose="02000506090000020003" pitchFamily="2" charset="-78"/>
                <a:cs typeface="XB Zar" panose="02000506090000020003" pitchFamily="2" charset="-78"/>
              </a:defRPr>
            </a:lvl1pPr>
          </a:lstStyle>
          <a:p>
            <a:r>
              <a:rPr lang="en-US" dirty="0"/>
              <a:t>۱۴۰۴/۴/۳۰</a:t>
            </a:r>
            <a:endParaRPr lang="fa-I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2762" y="6247597"/>
            <a:ext cx="1706217" cy="365125"/>
          </a:xfrm>
        </p:spPr>
        <p:txBody>
          <a:bodyPr/>
          <a:lstStyle>
            <a:lvl1pPr>
              <a:defRPr>
                <a:latin typeface="XB Zar" panose="02000506090000020003" pitchFamily="2" charset="-78"/>
                <a:cs typeface="B Titr" panose="00000700000000000000" pitchFamily="2" charset="-78"/>
              </a:defRPr>
            </a:lvl1pPr>
          </a:lstStyle>
          <a:p>
            <a:fld id="{6CC16284-1E5C-4F11-AE96-BC4A057A29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6F4D372-B488-4B66-A8BE-30021FE37BEC}"/>
              </a:ext>
            </a:extLst>
          </p:cNvPr>
          <p:cNvGrpSpPr>
            <a:grpSpLocks/>
          </p:cNvGrpSpPr>
          <p:nvPr userDrawn="1"/>
        </p:nvGrpSpPr>
        <p:grpSpPr>
          <a:xfrm>
            <a:off x="470792" y="415799"/>
            <a:ext cx="999068" cy="999068"/>
            <a:chOff x="2290952" y="350667"/>
            <a:chExt cx="1781730" cy="178173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EBE131F-05DE-40E8-A409-2D4E930C96E8}"/>
                </a:ext>
              </a:extLst>
            </p:cNvPr>
            <p:cNvSpPr/>
            <p:nvPr/>
          </p:nvSpPr>
          <p:spPr>
            <a:xfrm>
              <a:off x="2290952" y="350667"/>
              <a:ext cx="1781730" cy="178173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/>
            <a:lstStyle/>
            <a:p>
              <a:pPr algn="ctr"/>
              <a:endParaRPr lang="fa-IR" dirty="0">
                <a:solidFill>
                  <a:schemeClr val="bg2">
                    <a:lumMod val="75000"/>
                  </a:schemeClr>
                </a:solidFill>
                <a:cs typeface="B Titr" panose="00000700000000000000" pitchFamily="2" charset="-78"/>
              </a:endParaRPr>
            </a:p>
          </p:txBody>
        </p:sp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612CA88F-3603-4016-9004-0D68DBA734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383954" y="443670"/>
              <a:ext cx="1595724" cy="1595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40244086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39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36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3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8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48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75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84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94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7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۱۴۰۴/۴/۳۰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CC16284-1E5C-4F11-AE96-BC4A057A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9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A965AD-A2E6-4220-A8F2-1376C9510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933" y="872063"/>
            <a:ext cx="11142133" cy="287866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fa-IR" sz="4400" dirty="0">
                <a:latin typeface="XB Zar" panose="02000506090000020003" pitchFamily="2" charset="-78"/>
                <a:cs typeface="XB Zar" panose="02000506090000020003" pitchFamily="2" charset="-78"/>
              </a:rPr>
              <a:t>پیش بینی اولین رکورد شیر با استفاده از </a:t>
            </a:r>
            <a:r>
              <a:rPr lang="fa-IR" sz="4400" dirty="0" err="1">
                <a:latin typeface="XB Zar" panose="02000506090000020003" pitchFamily="2" charset="-78"/>
                <a:cs typeface="XB Zar" panose="02000506090000020003" pitchFamily="2" charset="-78"/>
              </a:rPr>
              <a:t>الگوریتم‌های</a:t>
            </a:r>
            <a:r>
              <a:rPr lang="fa-IR" sz="4400" dirty="0">
                <a:latin typeface="XB Zar" panose="02000506090000020003" pitchFamily="2" charset="-78"/>
                <a:cs typeface="XB Zar" panose="02000506090000020003" pitchFamily="2" charset="-78"/>
              </a:rPr>
              <a:t> </a:t>
            </a:r>
            <a:r>
              <a:rPr lang="fa-IR" sz="4400" dirty="0" err="1">
                <a:latin typeface="XB Zar" panose="02000506090000020003" pitchFamily="2" charset="-78"/>
                <a:cs typeface="XB Zar" panose="02000506090000020003" pitchFamily="2" charset="-78"/>
              </a:rPr>
              <a:t>یادگیری‌ماشین</a:t>
            </a:r>
            <a:r>
              <a:rPr lang="fa-IR" sz="4400" dirty="0">
                <a:latin typeface="XB Zar" panose="02000506090000020003" pitchFamily="2" charset="-78"/>
                <a:cs typeface="XB Zar" panose="02000506090000020003" pitchFamily="2" charset="-78"/>
              </a:rPr>
              <a:t> و </a:t>
            </a:r>
            <a:r>
              <a:rPr lang="fa-IR" sz="4400" dirty="0" err="1">
                <a:latin typeface="XB Zar" panose="02000506090000020003" pitchFamily="2" charset="-78"/>
                <a:cs typeface="XB Zar" panose="02000506090000020003" pitchFamily="2" charset="-78"/>
              </a:rPr>
              <a:t>داده‌های</a:t>
            </a:r>
            <a:r>
              <a:rPr lang="fa-IR" sz="4400" dirty="0">
                <a:latin typeface="XB Zar" panose="02000506090000020003" pitchFamily="2" charset="-78"/>
                <a:cs typeface="XB Zar" panose="02000506090000020003" pitchFamily="2" charset="-78"/>
              </a:rPr>
              <a:t> تاریخی</a:t>
            </a:r>
            <a:endParaRPr lang="en-US" sz="4400" dirty="0">
              <a:latin typeface="XB Zar" panose="02000506090000020003" pitchFamily="2" charset="-78"/>
              <a:cs typeface="XB Zar" panose="02000506090000020003" pitchFamily="2" charset="-78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BB3D5A7-48D7-4F85-8187-9C8004B1D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7518" y="3835530"/>
            <a:ext cx="5616959" cy="2379003"/>
          </a:xfrm>
        </p:spPr>
        <p:txBody>
          <a:bodyPr>
            <a:noAutofit/>
          </a:bodyPr>
          <a:lstStyle/>
          <a:p>
            <a:r>
              <a:rPr lang="fa-IR" sz="1800" dirty="0">
                <a:latin typeface="XB Zar" panose="02000506090000020003" pitchFamily="2" charset="-78"/>
                <a:cs typeface="XB Zar" panose="02000506090000020003" pitchFamily="2" charset="-78"/>
              </a:rPr>
              <a:t>پروژه کارشناسی – مهندسی کامپیوتر</a:t>
            </a:r>
          </a:p>
          <a:p>
            <a:r>
              <a:rPr lang="fa-IR" sz="1800" dirty="0">
                <a:latin typeface="XB Zar" panose="02000506090000020003" pitchFamily="2" charset="-78"/>
                <a:cs typeface="XB Zar" panose="02000506090000020003" pitchFamily="2" charset="-78"/>
              </a:rPr>
              <a:t>استاد پروژه : دکتر هدی </a:t>
            </a:r>
            <a:r>
              <a:rPr lang="fa-IR" sz="1800" dirty="0" err="1">
                <a:latin typeface="XB Zar" panose="02000506090000020003" pitchFamily="2" charset="-78"/>
                <a:cs typeface="XB Zar" panose="02000506090000020003" pitchFamily="2" charset="-78"/>
              </a:rPr>
              <a:t>صفائی</a:t>
            </a:r>
            <a:r>
              <a:rPr lang="fa-IR" sz="1800" dirty="0">
                <a:latin typeface="XB Zar" panose="02000506090000020003" pitchFamily="2" charset="-78"/>
                <a:cs typeface="XB Zar" panose="02000506090000020003" pitchFamily="2" charset="-78"/>
              </a:rPr>
              <a:t> پور</a:t>
            </a:r>
          </a:p>
          <a:p>
            <a:r>
              <a:rPr lang="fa-IR" sz="1800" dirty="0">
                <a:latin typeface="XB Zar" panose="02000506090000020003" pitchFamily="2" charset="-78"/>
                <a:cs typeface="XB Zar" panose="02000506090000020003" pitchFamily="2" charset="-78"/>
              </a:rPr>
              <a:t>استاد داور : دکتر علیرضا </a:t>
            </a:r>
            <a:r>
              <a:rPr lang="fa-IR" sz="1800" dirty="0" err="1">
                <a:latin typeface="XB Zar" panose="02000506090000020003" pitchFamily="2" charset="-78"/>
                <a:cs typeface="XB Zar" panose="02000506090000020003" pitchFamily="2" charset="-78"/>
              </a:rPr>
              <a:t>بصیری</a:t>
            </a:r>
            <a:endParaRPr lang="fa-IR" sz="1800" dirty="0">
              <a:latin typeface="XB Zar" panose="02000506090000020003" pitchFamily="2" charset="-78"/>
              <a:cs typeface="XB Zar" panose="02000506090000020003" pitchFamily="2" charset="-78"/>
            </a:endParaRPr>
          </a:p>
          <a:p>
            <a:r>
              <a:rPr lang="fa-IR" sz="1800" dirty="0">
                <a:latin typeface="XB Zar" panose="02000506090000020003" pitchFamily="2" charset="-78"/>
                <a:cs typeface="XB Zar" panose="02000506090000020003" pitchFamily="2" charset="-78"/>
              </a:rPr>
              <a:t>سپهر عبادی</a:t>
            </a:r>
          </a:p>
          <a:p>
            <a:endParaRPr lang="fa-IR" sz="1800" dirty="0">
              <a:latin typeface="XB Zar" panose="02000506090000020003" pitchFamily="2" charset="-78"/>
              <a:cs typeface="XB Zar" panose="02000506090000020003" pitchFamily="2" charset="-78"/>
            </a:endParaRPr>
          </a:p>
          <a:p>
            <a:r>
              <a:rPr lang="fa-IR" sz="1800" dirty="0">
                <a:latin typeface="XB Zar" panose="02000506090000020003" pitchFamily="2" charset="-78"/>
                <a:cs typeface="XB Zar" panose="02000506090000020003" pitchFamily="2" charset="-78"/>
              </a:rPr>
              <a:t>تیر ۱۴۰۴</a:t>
            </a:r>
          </a:p>
          <a:p>
            <a:endParaRPr lang="fa-IR" sz="1800" dirty="0">
              <a:latin typeface="XB Zar" panose="02000506090000020003" pitchFamily="2" charset="-78"/>
              <a:cs typeface="XB Zar" panose="02000506090000020003" pitchFamily="2" charset="-78"/>
            </a:endParaRPr>
          </a:p>
          <a:p>
            <a:endParaRPr lang="fa-IR" sz="1800" dirty="0">
              <a:latin typeface="XB Zar" panose="02000506090000020003" pitchFamily="2" charset="-78"/>
              <a:cs typeface="XB Zar" panose="02000506090000020003" pitchFamily="2" charset="-78"/>
            </a:endParaRPr>
          </a:p>
          <a:p>
            <a:endParaRPr lang="en-US" sz="1800" dirty="0">
              <a:latin typeface="XB Zar" panose="02000506090000020003" pitchFamily="2" charset="-78"/>
              <a:cs typeface="XB Zar" panose="02000506090000020003" pitchFamily="2" charset="-78"/>
            </a:endParaRPr>
          </a:p>
          <a:p>
            <a:endParaRPr lang="en-US" sz="1800" dirty="0">
              <a:latin typeface="XB Zar" panose="02000506090000020003" pitchFamily="2" charset="-78"/>
              <a:cs typeface="XB Zar" panose="02000506090000020003" pitchFamily="2" charset="-78"/>
            </a:endParaRPr>
          </a:p>
          <a:p>
            <a:endParaRPr lang="en-US" sz="18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43F6EDE-EFE5-437A-953D-5D92565575F3}"/>
              </a:ext>
            </a:extLst>
          </p:cNvPr>
          <p:cNvGrpSpPr>
            <a:grpSpLocks/>
          </p:cNvGrpSpPr>
          <p:nvPr/>
        </p:nvGrpSpPr>
        <p:grpSpPr>
          <a:xfrm>
            <a:off x="5596465" y="516467"/>
            <a:ext cx="999068" cy="999068"/>
            <a:chOff x="2290952" y="350667"/>
            <a:chExt cx="1781730" cy="178173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BA36F6-5510-456D-9DF7-2A86BB1449E9}"/>
                </a:ext>
              </a:extLst>
            </p:cNvPr>
            <p:cNvSpPr/>
            <p:nvPr/>
          </p:nvSpPr>
          <p:spPr>
            <a:xfrm>
              <a:off x="2290952" y="350667"/>
              <a:ext cx="1781730" cy="178173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/>
            <a:lstStyle/>
            <a:p>
              <a:pPr algn="ctr"/>
              <a:endParaRPr lang="fa-IR" dirty="0">
                <a:solidFill>
                  <a:schemeClr val="bg2">
                    <a:lumMod val="75000"/>
                  </a:schemeClr>
                </a:solidFill>
                <a:cs typeface="B Titr" panose="00000700000000000000" pitchFamily="2" charset="-78"/>
              </a:endParaRPr>
            </a:p>
          </p:txBody>
        </p:sp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8C20638B-281D-4367-83E3-1A2C5AAC01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383954" y="443670"/>
              <a:ext cx="1595724" cy="1595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20111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0782-2D2E-4A98-885E-24DF2CDDE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مقدمه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F3D91-C1B3-4779-960A-DF3626048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93334"/>
            <a:ext cx="9872871" cy="4572000"/>
          </a:xfrm>
        </p:spPr>
        <p:txBody>
          <a:bodyPr>
            <a:normAutofit/>
          </a:bodyPr>
          <a:lstStyle/>
          <a:p>
            <a:pPr marL="45720" indent="0" algn="justLow">
              <a:lnSpc>
                <a:spcPct val="120000"/>
              </a:lnSpc>
              <a:buNone/>
            </a:pPr>
            <a:r>
              <a:rPr lang="fa-IR" sz="2000" dirty="0">
                <a:effectLst/>
              </a:rPr>
              <a:t>ا</a:t>
            </a:r>
            <a:r>
              <a:rPr lang="fa-IR" sz="2000" b="1" dirty="0">
                <a:effectLst/>
              </a:rPr>
              <a:t>نگیزه </a:t>
            </a:r>
            <a:r>
              <a:rPr lang="fa-IR" sz="2000" dirty="0">
                <a:effectLst/>
              </a:rPr>
              <a:t>: </a:t>
            </a:r>
          </a:p>
          <a:p>
            <a:pPr algn="justLow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a-IR" sz="2000" dirty="0"/>
              <a:t>جذابیت موضوع به دلیل ارتباط کار پدرم که دکترای تغذیه دارند و در این زمینه در حال فعالیت هستند</a:t>
            </a:r>
          </a:p>
          <a:p>
            <a:pPr algn="justLow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a-IR" sz="2000" dirty="0">
                <a:effectLst/>
              </a:rPr>
              <a:t>علاقه به حوزه داده و یادگیری ماشین </a:t>
            </a:r>
          </a:p>
          <a:p>
            <a:pPr marL="45720" indent="0" algn="justLow">
              <a:lnSpc>
                <a:spcPct val="120000"/>
              </a:lnSpc>
              <a:buNone/>
            </a:pPr>
            <a:r>
              <a:rPr lang="fa-IR" sz="2000" b="1" dirty="0">
                <a:effectLst/>
              </a:rPr>
              <a:t>دیتاست</a:t>
            </a:r>
            <a:r>
              <a:rPr lang="fa-IR" sz="2000" b="1" dirty="0"/>
              <a:t> :</a:t>
            </a:r>
          </a:p>
          <a:p>
            <a:pPr algn="justLow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a-IR" sz="2000" dirty="0"/>
              <a:t>در ابتدا برگزاری جلسات با یک نماینده از تعاونی وحدت در مورد بیان مسئله </a:t>
            </a:r>
          </a:p>
          <a:p>
            <a:pPr algn="justLow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a-IR" sz="2000" dirty="0"/>
              <a:t>شفاف سازی نکات و مفاهیم ناآشنا در این حوزه </a:t>
            </a:r>
          </a:p>
          <a:p>
            <a:pPr algn="justLow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a-IR" sz="2000" dirty="0"/>
              <a:t>خواندن مقالات برای آشنایی با ادبیات موضوع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899E5-9D01-4792-941F-0CB57C0CC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3850153-FBAB-4CAB-8BF8-4F58ADAAF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819749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915AC-9050-4802-9DFB-1EC7A7C64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" indent="0" algn="justLow">
              <a:lnSpc>
                <a:spcPct val="120000"/>
              </a:lnSpc>
              <a:buNone/>
            </a:pPr>
            <a:r>
              <a:rPr lang="fa-IR" b="1" dirty="0"/>
              <a:t>بیان مسئله :</a:t>
            </a:r>
          </a:p>
          <a:p>
            <a:pPr algn="justLow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a-IR" sz="2000" b="1" dirty="0"/>
              <a:t>دوره انتقال </a:t>
            </a:r>
            <a:r>
              <a:rPr lang="fa-IR" dirty="0"/>
              <a:t>سه هفته قبل و سه هفته بعد از زایمان دام، که حساس ترین دوره برای دام است زیرا در این دوره دام مستعد ابتلا به انواع بیماری ها است.</a:t>
            </a:r>
          </a:p>
          <a:p>
            <a:pPr algn="justLow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a-IR" sz="2000" b="1" dirty="0"/>
              <a:t>روش های مستقیم </a:t>
            </a:r>
            <a:r>
              <a:rPr lang="fa-IR" dirty="0"/>
              <a:t>برای مدیریت این دوره مانند گرفتن خون از دام و بررسی شاخص های درون خون دام وجود دارد که نیاز به مداخله مستقیم دارد و خطا میتواند داشته باشد و پر هزینه است. </a:t>
            </a:r>
          </a:p>
          <a:p>
            <a:pPr algn="justLow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a-IR" sz="2000" b="1" dirty="0"/>
              <a:t>روش غیر مستقیم  </a:t>
            </a:r>
            <a:r>
              <a:rPr lang="fa-IR" dirty="0"/>
              <a:t>از شاخصی به نام شاخص دوره انتقال یا </a:t>
            </a:r>
            <a:r>
              <a:rPr lang="en-US" dirty="0"/>
              <a:t>TCI</a:t>
            </a:r>
            <a:r>
              <a:rPr lang="fa-IR" dirty="0"/>
              <a:t> استفاده می کنند. </a:t>
            </a:r>
          </a:p>
          <a:p>
            <a:pPr algn="justLow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a-IR" sz="2000" b="1" dirty="0"/>
              <a:t>روش بدست اوردن </a:t>
            </a:r>
            <a:r>
              <a:rPr lang="en-US" sz="2000" b="1" dirty="0"/>
              <a:t>TCI</a:t>
            </a:r>
            <a:r>
              <a:rPr lang="fa-IR" b="1" dirty="0"/>
              <a:t> </a:t>
            </a:r>
            <a:r>
              <a:rPr lang="fa-IR" dirty="0"/>
              <a:t>با استفاده از یک سری اطلاعات مربوط به دوره های شیردهی قبلی دام و یک سری داده های دیگر،‌مقدار اولین شیر تولیدی دام در دوره بعدی شیردهی را پیش بینی میکنند. مقدار پیش بینی را منهای مقدار واقعی میکنند و این شاخص بدست می آید.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085CE-0B55-43D4-8970-A784E629F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  <a:endParaRPr lang="fa-I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B2A09-C960-4DBA-9477-1EF4D0D58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476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F6051-56F9-4DF5-B059-9A43214F6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22471-E4D8-49C5-84DC-9F7F424CC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 algn="justLow">
              <a:lnSpc>
                <a:spcPct val="120000"/>
              </a:lnSpc>
              <a:buNone/>
            </a:pPr>
            <a:r>
              <a:rPr lang="fa-IR" sz="2000" b="1" dirty="0"/>
              <a:t>روش پیش بینی در حال حضر: </a:t>
            </a:r>
          </a:p>
          <a:p>
            <a:pPr marL="45720" indent="0" algn="justLow">
              <a:lnSpc>
                <a:spcPct val="120000"/>
              </a:lnSpc>
              <a:buNone/>
            </a:pPr>
            <a:r>
              <a:rPr lang="fa-IR" sz="2000" dirty="0"/>
              <a:t>مدلی که در تعاونی وحدت استفاده میشود مدل آماری </a:t>
            </a:r>
            <a:r>
              <a:rPr lang="fa-IR" sz="2000" dirty="0" err="1"/>
              <a:t>رگرسیون</a:t>
            </a:r>
            <a:r>
              <a:rPr lang="fa-IR" sz="2000" dirty="0"/>
              <a:t> خطی ساده است که دقت ان حدود ۳۰ درصد است.</a:t>
            </a:r>
          </a:p>
          <a:p>
            <a:pPr marL="45720" indent="0" algn="justLow">
              <a:lnSpc>
                <a:spcPct val="120000"/>
              </a:lnSpc>
              <a:buNone/>
            </a:pPr>
            <a:r>
              <a:rPr lang="fa-IR" sz="2000" b="1" dirty="0"/>
              <a:t>هدف پروژه ما :</a:t>
            </a:r>
          </a:p>
          <a:p>
            <a:pPr marL="45720" indent="0" algn="justLow">
              <a:lnSpc>
                <a:spcPct val="120000"/>
              </a:lnSpc>
              <a:buNone/>
            </a:pPr>
            <a:r>
              <a:rPr lang="fa-IR" sz="2000" b="1" dirty="0"/>
              <a:t> </a:t>
            </a:r>
            <a:r>
              <a:rPr lang="fa-IR" sz="2000" dirty="0"/>
              <a:t>توسعه مدل های یادگیری ماشین به منظور افزایش دقت مدل پیش بینی اولین رکورد شیر دام. زیرا که الگوریتم های ماشین خیلی قدرتمند تر از مدل های </a:t>
            </a:r>
            <a:r>
              <a:rPr lang="fa-IR" sz="2000" dirty="0" err="1"/>
              <a:t>اماری</a:t>
            </a:r>
            <a:r>
              <a:rPr lang="fa-IR" sz="2000" dirty="0"/>
              <a:t> هستند و قادر به شناسایی روابط پیچیده و پنهان بین داده ها هستند.</a:t>
            </a:r>
          </a:p>
          <a:p>
            <a:pPr marL="45720" indent="0" algn="justLow">
              <a:lnSpc>
                <a:spcPct val="120000"/>
              </a:lnSpc>
              <a:buNone/>
            </a:pP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319AB-2214-4AE5-B6C7-BD280AC44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A5882EC-7494-4B7C-BB45-D9BF352C4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891267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D5AC-0373-4514-BACE-A21CD5A53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AA84C-E7C9-451C-9116-FB2D09597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" indent="0" algn="justLow">
              <a:lnSpc>
                <a:spcPct val="120000"/>
              </a:lnSpc>
              <a:buNone/>
            </a:pPr>
            <a:r>
              <a:rPr lang="fa-IR" sz="2400" b="1" dirty="0"/>
              <a:t>دقت : </a:t>
            </a:r>
          </a:p>
          <a:p>
            <a:pPr marL="45720" indent="0" algn="justLow">
              <a:lnSpc>
                <a:spcPct val="120000"/>
              </a:lnSpc>
              <a:buNone/>
            </a:pPr>
            <a:r>
              <a:rPr lang="fa-IR" sz="2400" dirty="0"/>
              <a:t>مدل </a:t>
            </a:r>
            <a:r>
              <a:rPr lang="fa-IR" sz="2400" dirty="0" err="1"/>
              <a:t>هایی</a:t>
            </a:r>
            <a:r>
              <a:rPr lang="fa-IR" sz="2400" dirty="0"/>
              <a:t> که توسعه داده میشوند روی تک دام دقت خوبی ندارند ولی اگر روی کل دام ها میانگین گیری بشود دقت خیلی خوبی </a:t>
            </a:r>
            <a:r>
              <a:rPr lang="fa-IR" sz="2400" dirty="0" err="1"/>
              <a:t>داره</a:t>
            </a:r>
            <a:r>
              <a:rPr lang="fa-IR" sz="2400" dirty="0"/>
              <a:t>.</a:t>
            </a:r>
          </a:p>
          <a:p>
            <a:pPr marL="45720" indent="0" algn="justLow">
              <a:lnSpc>
                <a:spcPct val="120000"/>
              </a:lnSpc>
              <a:buNone/>
            </a:pPr>
            <a:r>
              <a:rPr lang="fa-IR" sz="2400" dirty="0" err="1"/>
              <a:t>وهمین</a:t>
            </a:r>
            <a:r>
              <a:rPr lang="fa-IR" sz="2400" dirty="0"/>
              <a:t> مدل ساده </a:t>
            </a:r>
            <a:r>
              <a:rPr lang="fa-IR" sz="2400" dirty="0" err="1"/>
              <a:t>اماری</a:t>
            </a:r>
            <a:r>
              <a:rPr lang="fa-IR" sz="2400" dirty="0"/>
              <a:t> که در حال حاضر استفاده میشود میانگین گیری که میشود دقت حدود بالای ۹۰ درصد دارد. </a:t>
            </a:r>
          </a:p>
          <a:p>
            <a:pPr marL="45720" indent="0" algn="justLow">
              <a:lnSpc>
                <a:spcPct val="120000"/>
              </a:lnSpc>
              <a:buNone/>
            </a:pPr>
            <a:r>
              <a:rPr lang="fa-IR" sz="2400" dirty="0"/>
              <a:t>اما هدف این پروژه بهبود دقت مدل روی تک دام بود تا در نهایت به صورت خودکار مدل نهایی روی همه دام ها که میانگین گیری میشود نیز بهبود یابد.</a:t>
            </a:r>
          </a:p>
          <a:p>
            <a:pPr marL="45720" indent="0" algn="justLow">
              <a:lnSpc>
                <a:spcPct val="120000"/>
              </a:lnSpc>
              <a:buNone/>
            </a:pPr>
            <a:r>
              <a:rPr lang="fa-IR" sz="2400" b="1" dirty="0"/>
              <a:t>دست آورد پروژه : </a:t>
            </a:r>
          </a:p>
          <a:p>
            <a:pPr marL="45720" indent="0" algn="justLow">
              <a:lnSpc>
                <a:spcPct val="120000"/>
              </a:lnSpc>
              <a:buNone/>
            </a:pPr>
            <a:r>
              <a:rPr lang="fa-IR" sz="2400" dirty="0"/>
              <a:t>توسعه مدلی که دقت حدود ۴۰ درصدی دارد و این نشان دهنده بهبود مدل تا ۱۰ درصد بودیم. که دقت قابل قبول و خوبی است.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A7284-916C-4654-979E-30301A406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  <a:endParaRPr lang="fa-I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E07C7-0191-4DFE-AE0C-A3815CD6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493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DD940-7A0F-4D16-B499-649BF209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پژوهش های پیشین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313B-9EED-441E-9075-A650D3C0E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Low">
              <a:lnSpc>
                <a:spcPct val="110000"/>
              </a:lnSpc>
            </a:pPr>
            <a:r>
              <a:rPr lang="fa-IR" dirty="0"/>
              <a:t>این کار در کشور های دیگر انجام شده است ولی تا جایی که ما </a:t>
            </a:r>
            <a:r>
              <a:rPr lang="fa-IR" dirty="0" err="1"/>
              <a:t>جست‌وجو</a:t>
            </a:r>
            <a:r>
              <a:rPr lang="fa-IR" dirty="0"/>
              <a:t> کردیم کار مشابهی در ایران انجام نشده است.</a:t>
            </a:r>
          </a:p>
          <a:p>
            <a:pPr algn="justLow">
              <a:lnSpc>
                <a:spcPct val="110000"/>
              </a:lnSpc>
            </a:pPr>
            <a:r>
              <a:rPr lang="fa-IR" dirty="0"/>
              <a:t>در مقالاتی که در این ارتباط وجود دارد و یا شبیه به کار ما بود اکثرا دیتاست های کامل تر نسبت به ما داشتند و از یک سری پارامتر ها و ویژگی </a:t>
            </a:r>
            <a:r>
              <a:rPr lang="fa-IR" dirty="0" err="1"/>
              <a:t>هایی</a:t>
            </a:r>
            <a:r>
              <a:rPr lang="fa-IR" dirty="0"/>
              <a:t> اضافه تری نسبت به ما استفاده می کردند که این کمک زیادی به توسعه مدل های با دقت بالا می کند.</a:t>
            </a:r>
          </a:p>
          <a:p>
            <a:pPr algn="justLow">
              <a:lnSpc>
                <a:spcPct val="110000"/>
              </a:lnSpc>
            </a:pPr>
            <a:r>
              <a:rPr lang="fa-IR" dirty="0"/>
              <a:t>به طور مثال : </a:t>
            </a:r>
          </a:p>
          <a:p>
            <a:pPr marL="45720" indent="0" algn="justLow">
              <a:lnSpc>
                <a:spcPct val="110000"/>
              </a:lnSpc>
              <a:buNone/>
            </a:pPr>
            <a:r>
              <a:rPr lang="fa-IR" dirty="0"/>
              <a:t>از گاو ها به فاصله ۴ الی ۸ هفته ای رکورد گرفته میشود. که در مقاله ای آمدند و از ۸ تا رکورد </a:t>
            </a:r>
            <a:r>
              <a:rPr lang="fa-IR" dirty="0" err="1"/>
              <a:t>اخر</a:t>
            </a:r>
            <a:r>
              <a:rPr lang="fa-IR" dirty="0"/>
              <a:t> دام در دوره قبلی استفاده </a:t>
            </a:r>
            <a:r>
              <a:rPr lang="fa-IR" dirty="0" err="1"/>
              <a:t>کرده‌اند</a:t>
            </a:r>
            <a:r>
              <a:rPr lang="fa-IR" dirty="0"/>
              <a:t> ولی ما در این دیتاست به دلیل اینکه شماره بدن هر گاو را نداشتیم </a:t>
            </a:r>
            <a:r>
              <a:rPr lang="fa-IR" dirty="0" err="1"/>
              <a:t>نمی</a:t>
            </a:r>
            <a:r>
              <a:rPr lang="fa-IR" dirty="0"/>
              <a:t> </a:t>
            </a:r>
            <a:r>
              <a:rPr lang="fa-IR" dirty="0" err="1"/>
              <a:t>توانسیم</a:t>
            </a:r>
            <a:r>
              <a:rPr lang="fa-IR" dirty="0"/>
              <a:t> این تشخیص را بدهیم که هر رکورد متعلق به چه گاوی است. و این تفاوت خیلی قابل توجهی است.</a:t>
            </a:r>
          </a:p>
          <a:p>
            <a:pPr marL="45720" indent="0" algn="justLow">
              <a:lnSpc>
                <a:spcPct val="110000"/>
              </a:lnSpc>
              <a:buNone/>
            </a:pPr>
            <a:r>
              <a:rPr lang="fa-IR" dirty="0"/>
              <a:t>که این پروژه به این هدف که برای دیتاست های ناقص شبیه </a:t>
            </a:r>
            <a:r>
              <a:rPr lang="fa-IR" dirty="0" err="1"/>
              <a:t>دیتا‌ست</a:t>
            </a:r>
            <a:r>
              <a:rPr lang="fa-IR" dirty="0"/>
              <a:t> ما هم یک مدل خوب با دقت قابل قبول توسعه داده شود.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078FD-8F3D-43DF-81A7-E0089139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A837788-359D-47EF-9BC1-BA72E3EAF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620389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FFF68-0EB8-4D03-8D62-8302E2153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روش </a:t>
            </a:r>
            <a:r>
              <a:rPr lang="fa-IR" dirty="0" err="1"/>
              <a:t>شناسی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13541-959C-4E71-925E-230D86D27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دیتاست مورد استفاده شامل اطلاعات 345،676 </a:t>
            </a:r>
            <a:r>
              <a:rPr lang="fa-IR" dirty="0" err="1">
                <a:effectLst/>
              </a:rPr>
              <a:t>رأس</a:t>
            </a:r>
            <a:r>
              <a:rPr lang="fa-IR" dirty="0">
                <a:effectLst/>
              </a:rPr>
              <a:t> گاو از 99 گله در بازه زمانی </a:t>
            </a:r>
            <a:r>
              <a:rPr lang="fa-IR" dirty="0" err="1">
                <a:effectLst/>
              </a:rPr>
              <a:t>سال‌های</a:t>
            </a:r>
            <a:r>
              <a:rPr lang="fa-IR" dirty="0">
                <a:effectLst/>
              </a:rPr>
              <a:t> 1390 تا 1401 است که با همکاری تعاونی وحدت استان اصفهان جمع‌آوری شده است.</a:t>
            </a:r>
          </a:p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برای </a:t>
            </a:r>
            <a:r>
              <a:rPr lang="fa-IR" dirty="0" err="1">
                <a:effectLst/>
              </a:rPr>
              <a:t>پیش‌بینی</a:t>
            </a:r>
            <a:r>
              <a:rPr lang="fa-IR" dirty="0">
                <a:effectLst/>
              </a:rPr>
              <a:t> اولین رکورد شیردهی، از </a:t>
            </a:r>
            <a:r>
              <a:rPr lang="fa-IR" dirty="0" err="1">
                <a:effectLst/>
              </a:rPr>
              <a:t>مجموعه‌ای</a:t>
            </a:r>
            <a:r>
              <a:rPr lang="fa-IR" dirty="0">
                <a:effectLst/>
              </a:rPr>
              <a:t> متنوع از مدل‌های یادگیری ماشین استفاده کردم که شامل </a:t>
            </a:r>
            <a:r>
              <a:rPr lang="fa-IR" dirty="0" err="1">
                <a:effectLst/>
              </a:rPr>
              <a:t>رگرسیون</a:t>
            </a:r>
            <a:r>
              <a:rPr lang="fa-IR" dirty="0">
                <a:effectLst/>
              </a:rPr>
              <a:t> </a:t>
            </a:r>
            <a:r>
              <a:rPr lang="fa-IR" dirty="0" err="1">
                <a:effectLst/>
              </a:rPr>
              <a:t>ریج</a:t>
            </a:r>
            <a:r>
              <a:rPr lang="fa-IR" dirty="0">
                <a:effectLst/>
              </a:rPr>
              <a:t>، جنگل تصادفی، </a:t>
            </a:r>
            <a:r>
              <a:rPr lang="fa-IR" dirty="0" err="1">
                <a:effectLst/>
              </a:rPr>
              <a:t>رگرسیون</a:t>
            </a:r>
            <a:r>
              <a:rPr lang="fa-IR" dirty="0">
                <a:effectLst/>
              </a:rPr>
              <a:t> بردار پشتیبانی، </a:t>
            </a:r>
            <a:r>
              <a:rPr lang="en-US" dirty="0" err="1">
                <a:effectLst/>
              </a:rPr>
              <a:t>XGBoost</a:t>
            </a:r>
            <a:r>
              <a:rPr lang="fa-IR" dirty="0"/>
              <a:t>(افزایش </a:t>
            </a:r>
            <a:r>
              <a:rPr lang="fa-IR" dirty="0" err="1"/>
              <a:t>گرادیان</a:t>
            </a:r>
            <a:r>
              <a:rPr lang="fa-IR" dirty="0"/>
              <a:t> افراطی)</a:t>
            </a:r>
            <a:r>
              <a:rPr lang="fa-IR" dirty="0">
                <a:effectLst/>
              </a:rPr>
              <a:t>،</a:t>
            </a:r>
            <a:r>
              <a:rPr lang="en-US" dirty="0" err="1">
                <a:effectLst/>
              </a:rPr>
              <a:t>CatBoost</a:t>
            </a:r>
            <a:r>
              <a:rPr lang="fa-IR" dirty="0">
                <a:effectLst/>
              </a:rPr>
              <a:t>(تقویت </a:t>
            </a:r>
            <a:r>
              <a:rPr lang="fa-IR" dirty="0" err="1">
                <a:effectLst/>
              </a:rPr>
              <a:t>دسته‌ای</a:t>
            </a:r>
            <a:r>
              <a:rPr lang="fa-IR" dirty="0">
                <a:effectLst/>
              </a:rPr>
              <a:t>)، شبکه عصبی چندلایه، و شبکه عصبی عمیق می‌شود.</a:t>
            </a:r>
          </a:p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برای ارزیابی عملکرد این </a:t>
            </a:r>
            <a:r>
              <a:rPr lang="fa-IR" dirty="0" err="1">
                <a:effectLst/>
              </a:rPr>
              <a:t>مدل‌ها</a:t>
            </a:r>
            <a:r>
              <a:rPr lang="fa-IR" dirty="0">
                <a:effectLst/>
              </a:rPr>
              <a:t>، از معیارهایی مثل ضریب تعیین، میانگین </a:t>
            </a:r>
            <a:r>
              <a:rPr lang="fa-IR" dirty="0" err="1">
                <a:effectLst/>
              </a:rPr>
              <a:t>قدرمطلق</a:t>
            </a:r>
            <a:r>
              <a:rPr lang="fa-IR" dirty="0">
                <a:effectLst/>
              </a:rPr>
              <a:t> خطا، ریشه میانگین مربع خطا، درصد خطای میانگین، میانگین </a:t>
            </a:r>
            <a:r>
              <a:rPr lang="fa-IR" dirty="0" err="1">
                <a:effectLst/>
              </a:rPr>
              <a:t>قدرمطلق</a:t>
            </a:r>
            <a:r>
              <a:rPr lang="fa-IR" dirty="0">
                <a:effectLst/>
              </a:rPr>
              <a:t> درصد خطای متقارن، و انحراف استاندارد نسبی استفاده کردم که هر کدام جنبه متفاوتی از دقت و ثبات مدل را نشان می‌دهند.</a:t>
            </a:r>
          </a:p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فرآیند کارم شامل تقسیم </a:t>
            </a:r>
            <a:r>
              <a:rPr lang="fa-IR" dirty="0" err="1">
                <a:effectLst/>
              </a:rPr>
              <a:t>داده‌ها</a:t>
            </a:r>
            <a:r>
              <a:rPr lang="fa-IR" dirty="0">
                <a:effectLst/>
              </a:rPr>
              <a:t> به سه بخش آموزش، تست، و </a:t>
            </a:r>
            <a:r>
              <a:rPr lang="fa-IR" dirty="0" err="1">
                <a:effectLst/>
              </a:rPr>
              <a:t>اعتبارسنجی</a:t>
            </a:r>
            <a:r>
              <a:rPr lang="fa-IR" dirty="0">
                <a:effectLst/>
              </a:rPr>
              <a:t> بود تا مطمئن شوم </a:t>
            </a:r>
            <a:r>
              <a:rPr lang="fa-IR" dirty="0" err="1">
                <a:effectLst/>
              </a:rPr>
              <a:t>مدل‌ها</a:t>
            </a:r>
            <a:r>
              <a:rPr lang="fa-IR" dirty="0">
                <a:effectLst/>
              </a:rPr>
              <a:t> </a:t>
            </a:r>
            <a:r>
              <a:rPr lang="fa-IR" dirty="0" err="1">
                <a:effectLst/>
              </a:rPr>
              <a:t>به‌درستی</a:t>
            </a:r>
            <a:r>
              <a:rPr lang="fa-IR" dirty="0">
                <a:effectLst/>
              </a:rPr>
              <a:t> </a:t>
            </a:r>
            <a:r>
              <a:rPr lang="fa-IR" dirty="0" err="1">
                <a:effectLst/>
              </a:rPr>
              <a:t>تعمیم‌پذیر</a:t>
            </a:r>
            <a:r>
              <a:rPr lang="fa-IR" dirty="0">
                <a:effectLst/>
              </a:rPr>
              <a:t> هستند.</a:t>
            </a:r>
          </a:p>
          <a:p>
            <a:pPr algn="justLow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EDEA5-48EE-49DB-942B-38E8B2088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1A4A798-414A-4F5C-AE31-3AB975685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۱۴۰۴/۴/۳۰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070211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10C66-28F4-4472-A024-B794F736B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مدل‌های مبتنی بر </a:t>
            </a:r>
            <a:r>
              <a:rPr lang="fa-IR" dirty="0" err="1"/>
              <a:t>بوستینگ</a:t>
            </a:r>
            <a:r>
              <a:rPr lang="fa-IR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7EEA8-898A-428B-A63B-EF4F4CAAE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Low">
              <a:lnSpc>
                <a:spcPct val="100000"/>
              </a:lnSpc>
            </a:pPr>
            <a:r>
              <a:rPr lang="fa-IR" dirty="0" err="1">
                <a:effectLst/>
              </a:rPr>
              <a:t>الگوریتم‌های</a:t>
            </a:r>
            <a:r>
              <a:rPr lang="fa-IR" dirty="0">
                <a:effectLst/>
              </a:rPr>
              <a:t> </a:t>
            </a:r>
            <a:r>
              <a:rPr lang="en-US" dirty="0">
                <a:effectLst/>
              </a:rPr>
              <a:t>Boosting</a:t>
            </a:r>
            <a:r>
              <a:rPr lang="fa-IR" dirty="0">
                <a:effectLst/>
              </a:rPr>
              <a:t> </a:t>
            </a:r>
            <a:r>
              <a:rPr lang="en-US" dirty="0">
                <a:effectLst/>
              </a:rPr>
              <a:t> </a:t>
            </a:r>
            <a:r>
              <a:rPr lang="fa-IR" dirty="0" err="1">
                <a:effectLst/>
              </a:rPr>
              <a:t>روش‌هایی</a:t>
            </a:r>
            <a:r>
              <a:rPr lang="fa-IR" dirty="0">
                <a:effectLst/>
              </a:rPr>
              <a:t> هستند که به‌صورت ترتیبی کار </a:t>
            </a:r>
            <a:r>
              <a:rPr lang="fa-IR" dirty="0" err="1">
                <a:effectLst/>
              </a:rPr>
              <a:t>می‌کنند</a:t>
            </a:r>
            <a:r>
              <a:rPr lang="fa-IR" dirty="0">
                <a:effectLst/>
              </a:rPr>
              <a:t>. ابتدا یک مدل ضعیف ساده </a:t>
            </a:r>
            <a:r>
              <a:rPr lang="fa-IR" dirty="0" err="1">
                <a:effectLst/>
              </a:rPr>
              <a:t>می‌سازند</a:t>
            </a:r>
            <a:r>
              <a:rPr lang="fa-IR" dirty="0">
                <a:effectLst/>
              </a:rPr>
              <a:t>، سپس مدل‌های بعدی را با تمرکز بر اشتباهات مدل قبلی آموزش می‌دهند تا خطاها را کاهش دهند.</a:t>
            </a:r>
          </a:p>
          <a:p>
            <a:pPr marL="45720" indent="0" algn="justLow">
              <a:lnSpc>
                <a:spcPct val="100000"/>
              </a:lnSpc>
              <a:buNone/>
            </a:pPr>
            <a:r>
              <a:rPr lang="fa-IR" dirty="0">
                <a:effectLst/>
              </a:rPr>
              <a:t>دو مدل مهم در این دسته، افزایش </a:t>
            </a:r>
            <a:r>
              <a:rPr lang="fa-IR" dirty="0" err="1">
                <a:effectLst/>
              </a:rPr>
              <a:t>گرادیان</a:t>
            </a:r>
            <a:r>
              <a:rPr lang="fa-IR" dirty="0">
                <a:effectLst/>
              </a:rPr>
              <a:t> افراطی و تقویت </a:t>
            </a:r>
            <a:r>
              <a:rPr lang="fa-IR" dirty="0" err="1">
                <a:effectLst/>
              </a:rPr>
              <a:t>دسته‌ای</a:t>
            </a:r>
            <a:r>
              <a:rPr lang="fa-IR" dirty="0">
                <a:effectLst/>
              </a:rPr>
              <a:t> یا هستند. روند کار </a:t>
            </a:r>
            <a:r>
              <a:rPr lang="en-US" dirty="0" err="1">
                <a:effectLst/>
              </a:rPr>
              <a:t>XGBoost</a:t>
            </a:r>
            <a:r>
              <a:rPr lang="en-US" dirty="0">
                <a:effectLst/>
              </a:rPr>
              <a:t> </a:t>
            </a:r>
            <a:r>
              <a:rPr lang="fa-IR" dirty="0">
                <a:effectLst/>
              </a:rPr>
              <a:t>این است که با استفاده از </a:t>
            </a:r>
            <a:r>
              <a:rPr lang="fa-IR" dirty="0" err="1">
                <a:effectLst/>
              </a:rPr>
              <a:t>گرادیان‌های</a:t>
            </a:r>
            <a:r>
              <a:rPr lang="fa-IR" dirty="0">
                <a:effectLst/>
              </a:rPr>
              <a:t> ریاضی، </a:t>
            </a:r>
            <a:r>
              <a:rPr lang="fa-IR" dirty="0" err="1">
                <a:effectLst/>
              </a:rPr>
              <a:t>به‌تدریج</a:t>
            </a:r>
            <a:r>
              <a:rPr lang="fa-IR" dirty="0">
                <a:effectLst/>
              </a:rPr>
              <a:t> خطاها را کم می‌کند و با اضافه کردن </a:t>
            </a:r>
            <a:r>
              <a:rPr lang="fa-IR" dirty="0" err="1">
                <a:effectLst/>
              </a:rPr>
              <a:t>درخت‌های</a:t>
            </a:r>
            <a:r>
              <a:rPr lang="fa-IR" dirty="0">
                <a:effectLst/>
              </a:rPr>
              <a:t> تصمیم، </a:t>
            </a:r>
            <a:r>
              <a:rPr lang="fa-IR" dirty="0" err="1">
                <a:effectLst/>
              </a:rPr>
              <a:t>پیش‌بینی</a:t>
            </a:r>
            <a:r>
              <a:rPr lang="fa-IR" dirty="0">
                <a:effectLst/>
              </a:rPr>
              <a:t> را بهبود </a:t>
            </a:r>
            <a:r>
              <a:rPr lang="fa-IR" dirty="0" err="1">
                <a:effectLst/>
              </a:rPr>
              <a:t>می‌بخشد</a:t>
            </a:r>
            <a:r>
              <a:rPr lang="fa-IR" dirty="0">
                <a:effectLst/>
              </a:rPr>
              <a:t>.</a:t>
            </a:r>
          </a:p>
          <a:p>
            <a:pPr marL="45720" indent="0" algn="justLow">
              <a:lnSpc>
                <a:spcPct val="100000"/>
              </a:lnSpc>
              <a:buNone/>
            </a:pPr>
            <a:r>
              <a:rPr lang="fa-IR" dirty="0">
                <a:effectLst/>
              </a:rPr>
              <a:t> </a:t>
            </a:r>
            <a:r>
              <a:rPr lang="en-US" dirty="0" err="1">
                <a:effectLst/>
              </a:rPr>
              <a:t>CatBoost</a:t>
            </a:r>
            <a:r>
              <a:rPr lang="fa-IR" dirty="0">
                <a:effectLst/>
              </a:rPr>
              <a:t> </a:t>
            </a:r>
            <a:r>
              <a:rPr lang="en-US" dirty="0">
                <a:effectLst/>
              </a:rPr>
              <a:t> </a:t>
            </a:r>
            <a:r>
              <a:rPr lang="fa-IR" dirty="0">
                <a:effectLst/>
              </a:rPr>
              <a:t>هم مشابه است، اما با </a:t>
            </a:r>
            <a:r>
              <a:rPr lang="fa-IR" dirty="0" err="1">
                <a:effectLst/>
              </a:rPr>
              <a:t>بهینه‌سازی</a:t>
            </a:r>
            <a:r>
              <a:rPr lang="fa-IR" dirty="0">
                <a:effectLst/>
              </a:rPr>
              <a:t> برای </a:t>
            </a:r>
            <a:r>
              <a:rPr lang="fa-IR" dirty="0" err="1">
                <a:effectLst/>
              </a:rPr>
              <a:t>داده‌های</a:t>
            </a:r>
            <a:r>
              <a:rPr lang="fa-IR" dirty="0">
                <a:effectLst/>
              </a:rPr>
              <a:t> </a:t>
            </a:r>
            <a:r>
              <a:rPr lang="fa-IR" dirty="0" err="1">
                <a:effectLst/>
              </a:rPr>
              <a:t>دسته‌ای</a:t>
            </a:r>
            <a:r>
              <a:rPr lang="fa-IR" dirty="0">
                <a:effectLst/>
              </a:rPr>
              <a:t> و کاهش </a:t>
            </a:r>
            <a:r>
              <a:rPr lang="fa-IR" dirty="0" err="1">
                <a:effectLst/>
              </a:rPr>
              <a:t>نویز</a:t>
            </a:r>
            <a:r>
              <a:rPr lang="fa-IR" dirty="0">
                <a:effectLst/>
              </a:rPr>
              <a:t>، دقت بیشتری دارد و به‌ویژه برای </a:t>
            </a:r>
            <a:r>
              <a:rPr lang="fa-IR" dirty="0" err="1">
                <a:effectLst/>
              </a:rPr>
              <a:t>دیتاست‌های</a:t>
            </a:r>
            <a:r>
              <a:rPr lang="fa-IR" dirty="0">
                <a:effectLst/>
              </a:rPr>
              <a:t> پیچیده مثل </a:t>
            </a:r>
            <a:r>
              <a:rPr lang="fa-IR" dirty="0" err="1">
                <a:effectLst/>
              </a:rPr>
              <a:t>داده‌های</a:t>
            </a:r>
            <a:r>
              <a:rPr lang="fa-IR" dirty="0">
                <a:effectLst/>
              </a:rPr>
              <a:t> ما مناسب بود. </a:t>
            </a:r>
          </a:p>
          <a:p>
            <a:pPr algn="justLow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21AE4-F1C7-4278-A9FB-2218E9F75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9F229F8-9BEE-411B-8268-671AAB802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455837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6B4F-E756-4C1F-BE03-019498798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جنگل تصادفی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395ED-B88E-4FC3-86DF-96940EE16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جنگل تصادفی از چندین درخت تصمیم استفاده می‌کند و هر درخت به‌طور جداگانه آموزش </a:t>
            </a:r>
            <a:r>
              <a:rPr lang="fa-IR" dirty="0" err="1">
                <a:effectLst/>
              </a:rPr>
              <a:t>می‌بیند</a:t>
            </a:r>
            <a:r>
              <a:rPr lang="fa-IR" dirty="0">
                <a:effectLst/>
              </a:rPr>
              <a:t>.</a:t>
            </a:r>
          </a:p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 فرآیند آموزش یک درخت تصمیم </a:t>
            </a:r>
            <a:r>
              <a:rPr lang="fa-IR" dirty="0" err="1">
                <a:effectLst/>
              </a:rPr>
              <a:t>این‌گونه</a:t>
            </a:r>
            <a:r>
              <a:rPr lang="fa-IR" dirty="0">
                <a:effectLst/>
              </a:rPr>
              <a:t> است: ابتدا </a:t>
            </a:r>
            <a:r>
              <a:rPr lang="fa-IR" dirty="0" err="1">
                <a:effectLst/>
              </a:rPr>
              <a:t>داده‌ها</a:t>
            </a:r>
            <a:r>
              <a:rPr lang="fa-IR" dirty="0">
                <a:effectLst/>
              </a:rPr>
              <a:t> بررسی می‌شوند و بر اساس یک ویژگی، مثل تولید شیر قبلی، </a:t>
            </a:r>
            <a:r>
              <a:rPr lang="fa-IR" dirty="0" err="1">
                <a:effectLst/>
              </a:rPr>
              <a:t>داده‌ها</a:t>
            </a:r>
            <a:r>
              <a:rPr lang="fa-IR" dirty="0">
                <a:effectLst/>
              </a:rPr>
              <a:t> به دو گروه تقسیم می‌شوند که این کار با پیدا کردن بهترین نقطه برش انجام می‌شود تا خطا کم شود. این فرآیند به‌صورت</a:t>
            </a:r>
            <a:r>
              <a:rPr lang="fa-IR" dirty="0"/>
              <a:t> تکراری</a:t>
            </a:r>
            <a:r>
              <a:rPr lang="ja-JP" altLang="en-US" dirty="0">
                <a:effectLst/>
              </a:rPr>
              <a:t> </a:t>
            </a:r>
            <a:r>
              <a:rPr lang="fa-IR" dirty="0">
                <a:effectLst/>
              </a:rPr>
              <a:t>ادامه </a:t>
            </a:r>
            <a:r>
              <a:rPr lang="fa-IR" dirty="0" err="1">
                <a:effectLst/>
              </a:rPr>
              <a:t>می‌یابد</a:t>
            </a:r>
            <a:r>
              <a:rPr lang="fa-IR" dirty="0">
                <a:effectLst/>
              </a:rPr>
              <a:t> و هر بار </a:t>
            </a:r>
            <a:r>
              <a:rPr lang="fa-IR" dirty="0" err="1">
                <a:effectLst/>
              </a:rPr>
              <a:t>شاخه‌های</a:t>
            </a:r>
            <a:r>
              <a:rPr lang="fa-IR" dirty="0">
                <a:effectLst/>
              </a:rPr>
              <a:t> جدیدی ساخته می‌شوند تا </a:t>
            </a:r>
            <a:r>
              <a:rPr lang="fa-IR" dirty="0" err="1">
                <a:effectLst/>
              </a:rPr>
              <a:t>داده‌ها</a:t>
            </a:r>
            <a:r>
              <a:rPr lang="fa-IR" dirty="0">
                <a:effectLst/>
              </a:rPr>
              <a:t> به </a:t>
            </a:r>
            <a:r>
              <a:rPr lang="fa-IR" dirty="0" err="1">
                <a:effectLst/>
              </a:rPr>
              <a:t>گروه‌های</a:t>
            </a:r>
            <a:r>
              <a:rPr lang="fa-IR" dirty="0">
                <a:effectLst/>
              </a:rPr>
              <a:t> </a:t>
            </a:r>
            <a:r>
              <a:rPr lang="fa-IR" dirty="0" err="1">
                <a:effectLst/>
              </a:rPr>
              <a:t>کوچک‌تر</a:t>
            </a:r>
            <a:r>
              <a:rPr lang="fa-IR" dirty="0">
                <a:effectLst/>
              </a:rPr>
              <a:t> و </a:t>
            </a:r>
            <a:r>
              <a:rPr lang="fa-IR" dirty="0" err="1">
                <a:effectLst/>
              </a:rPr>
              <a:t>یکنواخت‌تر</a:t>
            </a:r>
            <a:r>
              <a:rPr lang="fa-IR" dirty="0">
                <a:effectLst/>
              </a:rPr>
              <a:t> تقسیم شوند. در نهایت، هر برگ درخت یک </a:t>
            </a:r>
            <a:r>
              <a:rPr lang="fa-IR" dirty="0" err="1">
                <a:effectLst/>
              </a:rPr>
              <a:t>پیش‌بینی</a:t>
            </a:r>
            <a:r>
              <a:rPr lang="fa-IR" dirty="0">
                <a:effectLst/>
              </a:rPr>
              <a:t> را نشان می‌دهد. </a:t>
            </a:r>
          </a:p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در جنگل تصادفی، هر درخت با یک نمونه تصادفی از </a:t>
            </a:r>
            <a:r>
              <a:rPr lang="fa-IR" dirty="0" err="1">
                <a:effectLst/>
              </a:rPr>
              <a:t>داده‌ها</a:t>
            </a:r>
            <a:r>
              <a:rPr lang="fa-IR" dirty="0">
                <a:effectLst/>
              </a:rPr>
              <a:t> و </a:t>
            </a:r>
            <a:r>
              <a:rPr lang="fa-IR" dirty="0" err="1">
                <a:effectLst/>
              </a:rPr>
              <a:t>ویژگی‌ها</a:t>
            </a:r>
            <a:r>
              <a:rPr lang="fa-IR" dirty="0">
                <a:effectLst/>
              </a:rPr>
              <a:t> آموزش </a:t>
            </a:r>
            <a:r>
              <a:rPr lang="fa-IR" dirty="0" err="1">
                <a:effectLst/>
              </a:rPr>
              <a:t>می‌بیند</a:t>
            </a:r>
            <a:r>
              <a:rPr lang="fa-IR" dirty="0">
                <a:effectLst/>
              </a:rPr>
              <a:t> تا از وابستگی بیش از حد جلوگیری شود. </a:t>
            </a:r>
          </a:p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بعد از آموزش همه </a:t>
            </a:r>
            <a:r>
              <a:rPr lang="fa-IR" dirty="0" err="1">
                <a:effectLst/>
              </a:rPr>
              <a:t>درخت‌ها</a:t>
            </a:r>
            <a:r>
              <a:rPr lang="fa-IR" dirty="0">
                <a:effectLst/>
              </a:rPr>
              <a:t>، </a:t>
            </a:r>
            <a:r>
              <a:rPr lang="fa-IR" dirty="0" err="1">
                <a:effectLst/>
              </a:rPr>
              <a:t>پیش‌بینی</a:t>
            </a:r>
            <a:r>
              <a:rPr lang="fa-IR" dirty="0">
                <a:effectLst/>
              </a:rPr>
              <a:t> نهایی با </a:t>
            </a:r>
            <a:r>
              <a:rPr lang="fa-IR" dirty="0" err="1">
                <a:effectLst/>
              </a:rPr>
              <a:t>میانگین‌گیری</a:t>
            </a:r>
            <a:r>
              <a:rPr lang="fa-IR" dirty="0">
                <a:effectLst/>
              </a:rPr>
              <a:t> یا </a:t>
            </a:r>
            <a:r>
              <a:rPr lang="fa-IR" dirty="0" err="1">
                <a:effectLst/>
              </a:rPr>
              <a:t>رأی‌گیری</a:t>
            </a:r>
            <a:r>
              <a:rPr lang="fa-IR" dirty="0">
                <a:effectLst/>
              </a:rPr>
              <a:t> از </a:t>
            </a:r>
            <a:r>
              <a:rPr lang="fa-IR" dirty="0" err="1">
                <a:effectLst/>
              </a:rPr>
              <a:t>خروجی‌های</a:t>
            </a:r>
            <a:r>
              <a:rPr lang="fa-IR" dirty="0">
                <a:effectLst/>
              </a:rPr>
              <a:t> آن‌ها به دست </a:t>
            </a:r>
            <a:r>
              <a:rPr lang="fa-IR" dirty="0" err="1">
                <a:effectLst/>
              </a:rPr>
              <a:t>می‌آید</a:t>
            </a:r>
            <a:r>
              <a:rPr lang="fa-IR" dirty="0">
                <a:effectLst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47AFE-724B-41C3-9B1C-975D51D0F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CECD8B7-6517-4A92-B549-3FC0CF81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779656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A6595-DD30-4CB5-99A3-51D4AA5F1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err="1"/>
              <a:t>رگرسیون</a:t>
            </a:r>
            <a:r>
              <a:rPr lang="fa-IR" dirty="0"/>
              <a:t> بردار پشتیبان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3C06C-9FDD-4054-AB3C-B89793781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Low">
              <a:lnSpc>
                <a:spcPct val="110000"/>
              </a:lnSpc>
            </a:pPr>
            <a:r>
              <a:rPr lang="fa-IR" dirty="0">
                <a:effectLst/>
              </a:rPr>
              <a:t>این مدل، مانند نسخه </a:t>
            </a:r>
            <a:r>
              <a:rPr lang="fa-IR" dirty="0" err="1">
                <a:effectLst/>
              </a:rPr>
              <a:t>دسته‌بندی‌اش</a:t>
            </a:r>
            <a:r>
              <a:rPr lang="fa-IR" dirty="0">
                <a:effectLst/>
              </a:rPr>
              <a:t>، بر مفهوم </a:t>
            </a:r>
            <a:r>
              <a:rPr lang="fa-IR" dirty="0" err="1">
                <a:effectLst/>
              </a:rPr>
              <a:t>ابرصفحه</a:t>
            </a:r>
            <a:r>
              <a:rPr lang="fa-IR" dirty="0">
                <a:effectLst/>
              </a:rPr>
              <a:t> و حاشیه تکیه دارد، اما تعریف این مفاهیم در آن متفاوت است. </a:t>
            </a:r>
          </a:p>
          <a:p>
            <a:pPr algn="justLow">
              <a:lnSpc>
                <a:spcPct val="110000"/>
              </a:lnSpc>
            </a:pPr>
            <a:r>
              <a:rPr lang="fa-IR" dirty="0">
                <a:effectLst/>
              </a:rPr>
              <a:t>در </a:t>
            </a:r>
            <a:r>
              <a:rPr lang="en-US" dirty="0">
                <a:effectLst/>
              </a:rPr>
              <a:t>SVR، </a:t>
            </a:r>
            <a:r>
              <a:rPr lang="fa-IR" dirty="0">
                <a:effectLst/>
              </a:rPr>
              <a:t>حاشیه به‌صورت یک ناحیه تحمل خطا تعریف می‌شود که مقادیر خروج از آن تا میزان مشخصی، مثلاً </a:t>
            </a:r>
            <a:r>
              <a:rPr lang="el-GR" dirty="0">
                <a:effectLst/>
              </a:rPr>
              <a:t>ε، </a:t>
            </a:r>
            <a:r>
              <a:rPr lang="fa-IR" dirty="0" err="1">
                <a:effectLst/>
              </a:rPr>
              <a:t>می‌توانند</a:t>
            </a:r>
            <a:r>
              <a:rPr lang="fa-IR" dirty="0">
                <a:effectLst/>
              </a:rPr>
              <a:t> انحراف داشته باشند بدون اینکه </a:t>
            </a:r>
            <a:r>
              <a:rPr lang="fa-IR" dirty="0" err="1">
                <a:effectLst/>
              </a:rPr>
              <a:t>به‌عنوان</a:t>
            </a:r>
            <a:r>
              <a:rPr lang="fa-IR" dirty="0">
                <a:effectLst/>
              </a:rPr>
              <a:t> خطا محسوب شوند.</a:t>
            </a:r>
          </a:p>
          <a:p>
            <a:pPr algn="justLow">
              <a:lnSpc>
                <a:spcPct val="110000"/>
              </a:lnSpc>
            </a:pPr>
            <a:r>
              <a:rPr lang="fa-IR" dirty="0">
                <a:effectLst/>
              </a:rPr>
              <a:t> این ناحیه مثل یک نوار اطراف </a:t>
            </a:r>
            <a:r>
              <a:rPr lang="fa-IR" dirty="0" err="1">
                <a:effectLst/>
              </a:rPr>
              <a:t>ابرصفحه</a:t>
            </a:r>
            <a:r>
              <a:rPr lang="fa-IR" dirty="0">
                <a:effectLst/>
              </a:rPr>
              <a:t> است که برای </a:t>
            </a:r>
            <a:r>
              <a:rPr lang="fa-IR" dirty="0" err="1">
                <a:effectLst/>
              </a:rPr>
              <a:t>داده‌هایی</a:t>
            </a:r>
            <a:r>
              <a:rPr lang="fa-IR" dirty="0">
                <a:effectLst/>
              </a:rPr>
              <a:t> که درون آن قرار دارند، خطا در نظر گرفته </a:t>
            </a:r>
            <a:r>
              <a:rPr lang="fa-IR" dirty="0" err="1">
                <a:effectLst/>
              </a:rPr>
              <a:t>نمی‌شود</a:t>
            </a:r>
            <a:r>
              <a:rPr lang="fa-IR" dirty="0">
                <a:effectLst/>
              </a:rPr>
              <a:t>. تفاوت اصلی </a:t>
            </a:r>
            <a:r>
              <a:rPr lang="fa-IR" dirty="0" err="1">
                <a:effectLst/>
              </a:rPr>
              <a:t>ابرصفحه</a:t>
            </a:r>
            <a:r>
              <a:rPr lang="fa-IR" dirty="0">
                <a:effectLst/>
              </a:rPr>
              <a:t> در این مدل با نسخه </a:t>
            </a:r>
            <a:r>
              <a:rPr lang="fa-IR" dirty="0" err="1">
                <a:effectLst/>
              </a:rPr>
              <a:t>دسته‌بندی</a:t>
            </a:r>
            <a:r>
              <a:rPr lang="fa-IR" dirty="0">
                <a:effectLst/>
              </a:rPr>
              <a:t> در این است که در </a:t>
            </a:r>
            <a:r>
              <a:rPr lang="fa-IR" dirty="0" err="1">
                <a:effectLst/>
              </a:rPr>
              <a:t>دسته‌بندی</a:t>
            </a:r>
            <a:r>
              <a:rPr lang="fa-IR" dirty="0">
                <a:effectLst/>
              </a:rPr>
              <a:t>، هدف جداسازی </a:t>
            </a:r>
            <a:r>
              <a:rPr lang="fa-IR" dirty="0" err="1">
                <a:effectLst/>
              </a:rPr>
              <a:t>داده‌ها</a:t>
            </a:r>
            <a:r>
              <a:rPr lang="fa-IR" dirty="0">
                <a:effectLst/>
              </a:rPr>
              <a:t> است، اما در </a:t>
            </a:r>
            <a:r>
              <a:rPr lang="fa-IR" dirty="0" err="1">
                <a:effectLst/>
              </a:rPr>
              <a:t>رگرسیون</a:t>
            </a:r>
            <a:r>
              <a:rPr lang="fa-IR" dirty="0">
                <a:effectLst/>
              </a:rPr>
              <a:t>، هدف برازش </a:t>
            </a:r>
            <a:r>
              <a:rPr lang="fa-IR" dirty="0" err="1">
                <a:effectLst/>
              </a:rPr>
              <a:t>داده‌ها</a:t>
            </a:r>
            <a:r>
              <a:rPr lang="fa-IR" dirty="0">
                <a:effectLst/>
              </a:rPr>
              <a:t> در </a:t>
            </a:r>
            <a:r>
              <a:rPr lang="fa-IR" dirty="0" err="1">
                <a:effectLst/>
              </a:rPr>
              <a:t>ناحیه‌ای</a:t>
            </a:r>
            <a:r>
              <a:rPr lang="fa-IR" dirty="0">
                <a:effectLst/>
              </a:rPr>
              <a:t> مجاز از خطا است تا بهترین برازش ممکن به دست آید.</a:t>
            </a:r>
          </a:p>
          <a:p>
            <a:pPr algn="justLow">
              <a:lnSpc>
                <a:spcPct val="110000"/>
              </a:lnSpc>
            </a:pPr>
            <a:r>
              <a:rPr lang="fa-IR" dirty="0">
                <a:effectLst/>
              </a:rPr>
              <a:t> در مرحله آموزش، </a:t>
            </a:r>
            <a:r>
              <a:rPr lang="fa-IR" dirty="0" err="1">
                <a:effectLst/>
              </a:rPr>
              <a:t>داده‌ها</a:t>
            </a:r>
            <a:r>
              <a:rPr lang="fa-IR" dirty="0">
                <a:effectLst/>
              </a:rPr>
              <a:t> به مدل داده می‌شوند و </a:t>
            </a:r>
            <a:r>
              <a:rPr lang="en-US" dirty="0">
                <a:effectLst/>
              </a:rPr>
              <a:t>SVR </a:t>
            </a:r>
            <a:r>
              <a:rPr lang="fa-IR" dirty="0">
                <a:effectLst/>
              </a:rPr>
              <a:t>با تنظیم این حاشیه بهینه، بهترین خط یا سطحی را پیدا می‌کند که </a:t>
            </a:r>
            <a:r>
              <a:rPr lang="fa-IR" dirty="0" err="1">
                <a:effectLst/>
              </a:rPr>
              <a:t>داده‌ها</a:t>
            </a:r>
            <a:r>
              <a:rPr lang="fa-IR" dirty="0">
                <a:effectLst/>
              </a:rPr>
              <a:t> را با کمترین خطا جدا کند. سپس با استفاده از </a:t>
            </a:r>
            <a:r>
              <a:rPr lang="fa-IR" dirty="0" err="1">
                <a:effectLst/>
              </a:rPr>
              <a:t>هسته‌هایی</a:t>
            </a:r>
            <a:r>
              <a:rPr lang="fa-IR" dirty="0">
                <a:effectLst/>
              </a:rPr>
              <a:t> مثل خطی یا شعاعی، الگوهای پیچیده را </a:t>
            </a:r>
            <a:r>
              <a:rPr lang="fa-IR" dirty="0" err="1">
                <a:effectLst/>
              </a:rPr>
              <a:t>مدل‌سازی</a:t>
            </a:r>
            <a:r>
              <a:rPr lang="fa-IR" dirty="0">
                <a:effectLst/>
              </a:rPr>
              <a:t> می‌کند. بعد از آموزش، مدل با </a:t>
            </a:r>
            <a:r>
              <a:rPr lang="fa-IR" dirty="0" err="1">
                <a:effectLst/>
              </a:rPr>
              <a:t>داده‌های</a:t>
            </a:r>
            <a:r>
              <a:rPr lang="fa-IR" dirty="0">
                <a:effectLst/>
              </a:rPr>
              <a:t> تست </a:t>
            </a:r>
            <a:r>
              <a:rPr lang="fa-IR" dirty="0" err="1">
                <a:effectLst/>
              </a:rPr>
              <a:t>پیش‌بینی</a:t>
            </a:r>
            <a:r>
              <a:rPr lang="fa-IR" dirty="0">
                <a:effectLst/>
              </a:rPr>
              <a:t> می‌کند و مقدار شیر را برای </a:t>
            </a:r>
            <a:r>
              <a:rPr lang="fa-IR" dirty="0" err="1">
                <a:effectLst/>
              </a:rPr>
              <a:t>گاوهای</a:t>
            </a:r>
            <a:r>
              <a:rPr lang="fa-IR" dirty="0">
                <a:effectLst/>
              </a:rPr>
              <a:t> جدید تخمین </a:t>
            </a:r>
            <a:r>
              <a:rPr lang="fa-IR" dirty="0" err="1">
                <a:effectLst/>
              </a:rPr>
              <a:t>می‌زند</a:t>
            </a:r>
            <a:r>
              <a:rPr lang="fa-IR" dirty="0">
                <a:effectLst/>
              </a:rPr>
              <a:t>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21D0CA-B99E-46C4-914B-2E7AE396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12ECA6-3A93-4586-BFD2-5903E2829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215285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054D6-0215-446F-965E-DBBA5504A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err="1"/>
              <a:t>اعتبارسنجی</a:t>
            </a:r>
            <a:r>
              <a:rPr lang="fa-IR" dirty="0"/>
              <a:t> متقاطع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D1DFC-CE95-40D4-A9E3-8C25D4E0D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Low">
              <a:lnSpc>
                <a:spcPct val="100000"/>
              </a:lnSpc>
            </a:pPr>
            <a:r>
              <a:rPr lang="fa-IR" dirty="0" err="1">
                <a:effectLst/>
              </a:rPr>
              <a:t>اعتبارسنجی</a:t>
            </a:r>
            <a:r>
              <a:rPr lang="fa-IR" dirty="0">
                <a:effectLst/>
              </a:rPr>
              <a:t> متقاطع یک روش برای ارزیابی عملکرد </a:t>
            </a:r>
            <a:r>
              <a:rPr lang="fa-IR" dirty="0" err="1">
                <a:effectLst/>
              </a:rPr>
              <a:t>مدل‌ها</a:t>
            </a:r>
            <a:r>
              <a:rPr lang="fa-IR" dirty="0">
                <a:effectLst/>
              </a:rPr>
              <a:t> است که </a:t>
            </a:r>
            <a:r>
              <a:rPr lang="fa-IR" dirty="0" err="1">
                <a:effectLst/>
              </a:rPr>
              <a:t>داده‌ها</a:t>
            </a:r>
            <a:r>
              <a:rPr lang="fa-IR" dirty="0">
                <a:effectLst/>
              </a:rPr>
              <a:t> را به چندین بخش یا </a:t>
            </a:r>
            <a:r>
              <a:rPr lang="fa-IR" dirty="0" err="1">
                <a:effectLst/>
              </a:rPr>
              <a:t>فُلد</a:t>
            </a:r>
            <a:r>
              <a:rPr lang="fa-IR" dirty="0">
                <a:effectLst/>
              </a:rPr>
              <a:t> تقسیم می‌کند. </a:t>
            </a:r>
            <a:r>
              <a:rPr lang="fa-IR" dirty="0" err="1">
                <a:effectLst/>
              </a:rPr>
              <a:t>به‌عنوان</a:t>
            </a:r>
            <a:r>
              <a:rPr lang="fa-IR" dirty="0">
                <a:effectLst/>
              </a:rPr>
              <a:t> مثال، </a:t>
            </a:r>
            <a:r>
              <a:rPr lang="fa-IR" dirty="0" err="1">
                <a:effectLst/>
              </a:rPr>
              <a:t>داده‌ها</a:t>
            </a:r>
            <a:r>
              <a:rPr lang="fa-IR" dirty="0">
                <a:effectLst/>
              </a:rPr>
              <a:t> را به 5 یا 10 قسمت مساوی </a:t>
            </a:r>
            <a:r>
              <a:rPr lang="fa-IR" dirty="0" err="1">
                <a:effectLst/>
              </a:rPr>
              <a:t>می‌شکنیم</a:t>
            </a:r>
            <a:r>
              <a:rPr lang="fa-IR" dirty="0">
                <a:effectLst/>
              </a:rPr>
              <a:t>. </a:t>
            </a:r>
          </a:p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در هر مرحله، یک قسمت </a:t>
            </a:r>
            <a:r>
              <a:rPr lang="fa-IR" dirty="0" err="1">
                <a:effectLst/>
              </a:rPr>
              <a:t>به‌عنوان</a:t>
            </a:r>
            <a:r>
              <a:rPr lang="fa-IR" dirty="0">
                <a:effectLst/>
              </a:rPr>
              <a:t> داده تست استفاده می‌شود و بقیه برای آموزش مدل به کار </a:t>
            </a:r>
            <a:r>
              <a:rPr lang="fa-IR" dirty="0" err="1">
                <a:effectLst/>
              </a:rPr>
              <a:t>می‌روند</a:t>
            </a:r>
            <a:r>
              <a:rPr lang="fa-IR" dirty="0">
                <a:effectLst/>
              </a:rPr>
              <a:t>.</a:t>
            </a:r>
          </a:p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 این فرآیند برای همه </a:t>
            </a:r>
            <a:r>
              <a:rPr lang="fa-IR" dirty="0" err="1">
                <a:effectLst/>
              </a:rPr>
              <a:t>قسمت‌ها</a:t>
            </a:r>
            <a:r>
              <a:rPr lang="fa-IR" dirty="0">
                <a:effectLst/>
              </a:rPr>
              <a:t> تکرار می‌شود و در نهایت، نتایج </a:t>
            </a:r>
            <a:r>
              <a:rPr lang="fa-IR" dirty="0" err="1">
                <a:effectLst/>
              </a:rPr>
              <a:t>میانگین‌گیری</a:t>
            </a:r>
            <a:r>
              <a:rPr lang="fa-IR" dirty="0">
                <a:effectLst/>
              </a:rPr>
              <a:t> می‌شوند. </a:t>
            </a:r>
          </a:p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این روش به ما کمک می‌کند مطمئن شویم مدل فقط به بخشی از </a:t>
            </a:r>
            <a:r>
              <a:rPr lang="fa-IR" dirty="0" err="1">
                <a:effectLst/>
              </a:rPr>
              <a:t>داده‌ها</a:t>
            </a:r>
            <a:r>
              <a:rPr lang="fa-IR" dirty="0">
                <a:effectLst/>
              </a:rPr>
              <a:t> وابسته نیست و </a:t>
            </a:r>
            <a:r>
              <a:rPr lang="fa-IR" dirty="0" err="1">
                <a:effectLst/>
              </a:rPr>
              <a:t>می‌تواند</a:t>
            </a:r>
            <a:r>
              <a:rPr lang="fa-IR" dirty="0">
                <a:effectLst/>
              </a:rPr>
              <a:t> روی کل دیتاست </a:t>
            </a:r>
            <a:r>
              <a:rPr lang="fa-IR" dirty="0" err="1">
                <a:effectLst/>
              </a:rPr>
              <a:t>به‌خوبی</a:t>
            </a:r>
            <a:r>
              <a:rPr lang="fa-IR" dirty="0">
                <a:effectLst/>
              </a:rPr>
              <a:t> کار کند. </a:t>
            </a:r>
          </a:p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در پروژه من، از این روش برای </a:t>
            </a:r>
            <a:r>
              <a:rPr lang="fa-IR" dirty="0" err="1">
                <a:effectLst/>
              </a:rPr>
              <a:t>نسخه‌هایی</a:t>
            </a:r>
            <a:r>
              <a:rPr lang="fa-IR" dirty="0">
                <a:effectLst/>
              </a:rPr>
              <a:t> مثل جنگل تصادفی با </a:t>
            </a:r>
            <a:r>
              <a:rPr lang="fa-IR" dirty="0" err="1">
                <a:effectLst/>
              </a:rPr>
              <a:t>اعتبارسنجی</a:t>
            </a:r>
            <a:r>
              <a:rPr lang="fa-IR" dirty="0">
                <a:effectLst/>
              </a:rPr>
              <a:t> متقاطع استفاده کردم تا ثبات و دقت </a:t>
            </a:r>
            <a:r>
              <a:rPr lang="fa-IR" dirty="0" err="1">
                <a:effectLst/>
              </a:rPr>
              <a:t>پیش‌بینی</a:t>
            </a:r>
            <a:r>
              <a:rPr lang="fa-IR" dirty="0">
                <a:effectLst/>
              </a:rPr>
              <a:t> را در دیتاست </a:t>
            </a:r>
            <a:r>
              <a:rPr lang="fa-IR" dirty="0" err="1">
                <a:effectLst/>
              </a:rPr>
              <a:t>نویزی‌ام</a:t>
            </a:r>
            <a:r>
              <a:rPr lang="fa-IR" dirty="0">
                <a:effectLst/>
              </a:rPr>
              <a:t> بهبود دهم.</a:t>
            </a:r>
          </a:p>
          <a:p>
            <a:pPr algn="justLow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DFAADB-A363-4F9B-B71B-AE0F9BF38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18DD13D-8316-46E4-BDC1-FCAD8D6D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203087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3B852-4A9D-460F-A47D-394919759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چالش‌ها و </a:t>
            </a:r>
            <a:r>
              <a:rPr lang="fa-IR" dirty="0" err="1"/>
              <a:t>محدودیت‌ها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AAF28-3B44-4328-B767-5C523C075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یکی از </a:t>
            </a:r>
            <a:r>
              <a:rPr lang="fa-IR" dirty="0" err="1">
                <a:effectLst/>
              </a:rPr>
              <a:t>اصلی‌ترین</a:t>
            </a:r>
            <a:r>
              <a:rPr lang="fa-IR" dirty="0">
                <a:effectLst/>
              </a:rPr>
              <a:t> </a:t>
            </a:r>
            <a:r>
              <a:rPr lang="fa-IR" dirty="0" err="1">
                <a:effectLst/>
              </a:rPr>
              <a:t>مشکلاتم</a:t>
            </a:r>
            <a:r>
              <a:rPr lang="fa-IR" dirty="0">
                <a:effectLst/>
              </a:rPr>
              <a:t> در این پروژه، جمع‌آوری </a:t>
            </a:r>
            <a:r>
              <a:rPr lang="fa-IR" dirty="0" err="1">
                <a:effectLst/>
              </a:rPr>
              <a:t>داده‌ها</a:t>
            </a:r>
            <a:r>
              <a:rPr lang="fa-IR" dirty="0">
                <a:effectLst/>
              </a:rPr>
              <a:t> بود که به دلیل حساسیت بالای اطلاعات، نیاز به برگزاری جلسات متعدد و </a:t>
            </a:r>
            <a:r>
              <a:rPr lang="fa-IR" dirty="0" err="1">
                <a:effectLst/>
              </a:rPr>
              <a:t>هماهنگی‌های</a:t>
            </a:r>
            <a:r>
              <a:rPr lang="fa-IR" dirty="0">
                <a:effectLst/>
              </a:rPr>
              <a:t> گسترده داشت.</a:t>
            </a:r>
          </a:p>
          <a:p>
            <a:pPr algn="justLow">
              <a:lnSpc>
                <a:spcPct val="100000"/>
              </a:lnSpc>
            </a:pPr>
            <a:r>
              <a:rPr lang="fa-IR" dirty="0" err="1">
                <a:effectLst/>
              </a:rPr>
              <a:t>به‌عنوان</a:t>
            </a:r>
            <a:r>
              <a:rPr lang="fa-IR" dirty="0">
                <a:effectLst/>
              </a:rPr>
              <a:t> یک دانشجوی مهندسی کامپیوتر، ناآشنایی با اصطلاحات و مفاهیم دامداری برایم </a:t>
            </a:r>
            <a:r>
              <a:rPr lang="fa-IR" dirty="0" err="1">
                <a:effectLst/>
              </a:rPr>
              <a:t>چالش‌برانگیز</a:t>
            </a:r>
            <a:r>
              <a:rPr lang="fa-IR" dirty="0">
                <a:effectLst/>
              </a:rPr>
              <a:t> بود و حتی در جلسات توضیحی، گاهی کلمات جدید مرا گیج </a:t>
            </a:r>
            <a:r>
              <a:rPr lang="fa-IR" dirty="0" err="1">
                <a:effectLst/>
              </a:rPr>
              <a:t>می‌کرد</a:t>
            </a:r>
            <a:r>
              <a:rPr lang="fa-IR" dirty="0">
                <a:effectLst/>
              </a:rPr>
              <a:t>.</a:t>
            </a:r>
          </a:p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دسترسی به </a:t>
            </a:r>
            <a:r>
              <a:rPr lang="fa-IR" dirty="0" err="1">
                <a:effectLst/>
              </a:rPr>
              <a:t>داده‌ها</a:t>
            </a:r>
            <a:r>
              <a:rPr lang="fa-IR" dirty="0">
                <a:effectLst/>
              </a:rPr>
              <a:t> هم مشکل داشت، چون نهادها با مقاومت مواجه بودند و با اکراه اطلاعات را در </a:t>
            </a:r>
            <a:r>
              <a:rPr lang="fa-IR" dirty="0" err="1">
                <a:effectLst/>
              </a:rPr>
              <a:t>اختیارم</a:t>
            </a:r>
            <a:r>
              <a:rPr lang="fa-IR" dirty="0">
                <a:effectLst/>
              </a:rPr>
              <a:t> قرار </a:t>
            </a:r>
            <a:r>
              <a:rPr lang="fa-IR" dirty="0" err="1">
                <a:effectLst/>
              </a:rPr>
              <a:t>می‌دادند</a:t>
            </a:r>
            <a:r>
              <a:rPr lang="fa-IR" dirty="0">
                <a:effectLst/>
              </a:rPr>
              <a:t>.</a:t>
            </a:r>
          </a:p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کیفیت دیتاست هم محدودیت دیگری بود؛ مجبور شدم ویژگی شیر </a:t>
            </a:r>
            <a:r>
              <a:rPr lang="fa-IR" dirty="0" err="1">
                <a:effectLst/>
              </a:rPr>
              <a:t>تجمعی</a:t>
            </a:r>
            <a:r>
              <a:rPr lang="fa-IR" dirty="0">
                <a:effectLst/>
              </a:rPr>
              <a:t> 305 روز را حذف کنم، چون از متغیر هدف مشتق شده بود، و همچنین </a:t>
            </a:r>
            <a:r>
              <a:rPr lang="fa-IR" dirty="0" err="1">
                <a:effectLst/>
              </a:rPr>
              <a:t>داده‌هایی</a:t>
            </a:r>
            <a:r>
              <a:rPr lang="fa-IR" dirty="0">
                <a:effectLst/>
              </a:rPr>
              <a:t> مثل اطلاعات سلامتی که در مطالعات مشابه استفاده می‌شود، در دیتاست من وجود نداشت.</a:t>
            </a:r>
          </a:p>
          <a:p>
            <a:pPr algn="justLow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7A4A2-5C3B-4CD3-B0A0-D328BCB0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445CD0B-8CA1-4A2A-A2C5-B44B74B63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240518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9D084-E0EB-48C6-A924-0BFCE2C2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نتایج و تحلیل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31BA8-F810-44DD-9B8F-A977E2507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مدل </a:t>
            </a:r>
            <a:r>
              <a:rPr lang="fa-IR" dirty="0" err="1">
                <a:effectLst/>
              </a:rPr>
              <a:t>بهینه‌ای</a:t>
            </a:r>
            <a:r>
              <a:rPr lang="fa-IR" dirty="0">
                <a:effectLst/>
              </a:rPr>
              <a:t> که در این پروژه به دست آوردم، تقویت </a:t>
            </a:r>
            <a:r>
              <a:rPr lang="fa-IR" dirty="0" err="1">
                <a:effectLst/>
              </a:rPr>
              <a:t>دسته‌ای</a:t>
            </a:r>
            <a:r>
              <a:rPr lang="fa-IR" dirty="0">
                <a:effectLst/>
              </a:rPr>
              <a:t> اولیه یا </a:t>
            </a:r>
            <a:r>
              <a:rPr lang="en-US" dirty="0" err="1">
                <a:effectLst/>
              </a:rPr>
              <a:t>catboost</a:t>
            </a:r>
            <a:r>
              <a:rPr lang="fa-IR" dirty="0">
                <a:effectLst/>
              </a:rPr>
              <a:t> اولیه است.</a:t>
            </a:r>
            <a:endParaRPr lang="en-US" dirty="0">
              <a:effectLst/>
            </a:endParaRPr>
          </a:p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این مدل بهترین عملکرد را در بین 19 مدل </a:t>
            </a:r>
            <a:r>
              <a:rPr lang="fa-IR" dirty="0" err="1">
                <a:effectLst/>
              </a:rPr>
              <a:t>بررسی‌شده</a:t>
            </a:r>
            <a:r>
              <a:rPr lang="fa-IR" dirty="0">
                <a:effectLst/>
              </a:rPr>
              <a:t> داشت. معیارهای کلیدی این مدل شامل ضریب تعیین 0.4015 و میانگین </a:t>
            </a:r>
            <a:r>
              <a:rPr lang="fa-IR" dirty="0" err="1">
                <a:effectLst/>
              </a:rPr>
              <a:t>قدرمطلق</a:t>
            </a:r>
            <a:r>
              <a:rPr lang="fa-IR" dirty="0">
                <a:effectLst/>
              </a:rPr>
              <a:t> خطا 6.4382 کیلوگرم است که نشان‌دهنده دقت خوبی در </a:t>
            </a:r>
            <a:r>
              <a:rPr lang="fa-IR" dirty="0" err="1">
                <a:effectLst/>
              </a:rPr>
              <a:t>پیش‌بینی</a:t>
            </a:r>
            <a:r>
              <a:rPr lang="fa-IR" dirty="0">
                <a:effectLst/>
              </a:rPr>
              <a:t> است.</a:t>
            </a:r>
          </a:p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این مدل نسبت به مدل آماری فعلی تعاونی دامداران استان اصفهان که ضریب </a:t>
            </a:r>
            <a:r>
              <a:rPr lang="fa-IR" dirty="0" err="1">
                <a:effectLst/>
              </a:rPr>
              <a:t>تعیینش</a:t>
            </a:r>
            <a:r>
              <a:rPr lang="fa-IR" dirty="0">
                <a:effectLst/>
              </a:rPr>
              <a:t> حدود 0.30 است، 10 درصد بهبود در برازش نشان می‌دهد.</a:t>
            </a:r>
          </a:p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این برتری نشان می‌دهد که رویکرد یادگیری ماشین من نسبت به روش‌های سنتی مؤثرتر بوده است.</a:t>
            </a:r>
          </a:p>
          <a:p>
            <a:pPr algn="justLow">
              <a:lnSpc>
                <a:spcPct val="100000"/>
              </a:lnSpc>
            </a:pPr>
            <a:endParaRPr lang="fa-IR" dirty="0">
              <a:effectLst/>
            </a:endParaRPr>
          </a:p>
          <a:p>
            <a:pPr algn="justLow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7AD8C-4795-4418-8599-416892F3B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D8360E1-142F-45F0-961C-12D8BC941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4286826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38E3E-ED59-43BC-8DE4-B7B1E2AC4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پیشنهادات برای تحقیقات آینده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5FC63-92F8-4312-B853-C86DF3E2C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Low">
              <a:lnSpc>
                <a:spcPct val="100000"/>
              </a:lnSpc>
            </a:pPr>
            <a:r>
              <a:rPr lang="fa-IR" dirty="0">
                <a:effectLst/>
              </a:rPr>
              <a:t>الگوریتم های مبتنی بر یادگیری عمیق و شبکه های عصبی بهینه شده </a:t>
            </a:r>
          </a:p>
          <a:p>
            <a:pPr algn="justLow">
              <a:lnSpc>
                <a:spcPct val="100000"/>
              </a:lnSpc>
            </a:pPr>
            <a:r>
              <a:rPr lang="fa-IR" dirty="0"/>
              <a:t>جمع آوری </a:t>
            </a:r>
            <a:r>
              <a:rPr lang="fa-IR" dirty="0" err="1"/>
              <a:t>داده‌های</a:t>
            </a:r>
            <a:r>
              <a:rPr lang="fa-IR" dirty="0"/>
              <a:t> مربوط به هر راس گاو به صورت دقیق تر و بیشتر و همچنین </a:t>
            </a:r>
            <a:r>
              <a:rPr lang="fa-IR" dirty="0" err="1"/>
              <a:t>داد‌ه‌های</a:t>
            </a:r>
            <a:r>
              <a:rPr lang="fa-IR" dirty="0"/>
              <a:t> سلامتی گاو</a:t>
            </a:r>
            <a:endParaRPr lang="fa-IR" dirty="0">
              <a:effectLst/>
            </a:endParaRPr>
          </a:p>
          <a:p>
            <a:pPr algn="justLow">
              <a:lnSpc>
                <a:spcPct val="100000"/>
              </a:lnSpc>
            </a:pPr>
            <a:endParaRPr lang="fa-IR" dirty="0"/>
          </a:p>
          <a:p>
            <a:pPr marL="45720" indent="0" algn="justLow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61065-F6BD-4804-961A-1B082B9C9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6284-1E5C-4F11-AE96-BC4A057A298E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9909981-F53F-4C3D-82EA-80DAC9DB2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۱۴۰۴/۴/۳۰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5866901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249</TotalTime>
  <Words>1625</Words>
  <Application>Microsoft Office PowerPoint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Corbel</vt:lpstr>
      <vt:lpstr>Wingdings</vt:lpstr>
      <vt:lpstr>XB Zar</vt:lpstr>
      <vt:lpstr>Basis</vt:lpstr>
      <vt:lpstr>پیش بینی اولین رکورد شیر با استفاده از الگوریتم‌های یادگیری‌ماشین و داده‌های تاریخی</vt:lpstr>
      <vt:lpstr>مقدمه</vt:lpstr>
      <vt:lpstr>PowerPoint Presentation</vt:lpstr>
      <vt:lpstr>PowerPoint Presentation</vt:lpstr>
      <vt:lpstr>PowerPoint Presentation</vt:lpstr>
      <vt:lpstr>پژوهش های پیشین</vt:lpstr>
      <vt:lpstr>روش شناسی</vt:lpstr>
      <vt:lpstr>مدل‌های مبتنی بر بوستینگ </vt:lpstr>
      <vt:lpstr>جنگل تصادفی</vt:lpstr>
      <vt:lpstr>رگرسیون بردار پشتیبان</vt:lpstr>
      <vt:lpstr>اعتبارسنجی متقاطع</vt:lpstr>
      <vt:lpstr>چالش‌ها و محدودیت‌ها</vt:lpstr>
      <vt:lpstr>نتایج و تحلیل</vt:lpstr>
      <vt:lpstr>پیشنهادات برای تحقیقات آینده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پیش بینی اولین رکورد شیر با استفاده از الگوریتم‌های یادگیری‌ماشین و داده‌های تاریخی</dc:title>
  <dc:creator>Sepehr Ebadi</dc:creator>
  <cp:lastModifiedBy>Sepehr Ebadi</cp:lastModifiedBy>
  <cp:revision>14</cp:revision>
  <dcterms:created xsi:type="dcterms:W3CDTF">2025-07-20T15:51:35Z</dcterms:created>
  <dcterms:modified xsi:type="dcterms:W3CDTF">2025-07-20T20:01:02Z</dcterms:modified>
</cp:coreProperties>
</file>