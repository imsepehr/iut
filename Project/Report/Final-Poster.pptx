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8346400" cy="37490400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7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7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7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7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7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7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7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7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7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3CECFFE-ABD3-4EC2-977B-E033BE3A7C2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1808">
          <p15:clr>
            <a:srgbClr val="A4A3A4"/>
          </p15:clr>
        </p15:guide>
        <p15:guide id="2" pos="8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FF0000"/>
    <a:srgbClr val="FF66CC"/>
    <a:srgbClr val="000099"/>
    <a:srgbClr val="1C57AE"/>
    <a:srgbClr val="326580"/>
    <a:srgbClr val="000080"/>
    <a:srgbClr val="3265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1611" autoAdjust="0"/>
    <p:restoredTop sz="94660"/>
  </p:normalViewPr>
  <p:slideViewPr>
    <p:cSldViewPr>
      <p:cViewPr>
        <p:scale>
          <a:sx n="50" d="100"/>
          <a:sy n="50" d="100"/>
        </p:scale>
        <p:origin x="948" y="-6432"/>
      </p:cViewPr>
      <p:guideLst>
        <p:guide orient="horz" pos="11808"/>
        <p:guide pos="892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228600" cy="2286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25663" y="11645900"/>
            <a:ext cx="24095075" cy="80359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51325" y="21243925"/>
            <a:ext cx="19843750" cy="95821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A5F7C-75FF-4B2F-AE4F-3C76FF53A44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BA3CC-FC9D-44C8-A5FE-F986CBB611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963" y="24090313"/>
            <a:ext cx="24093487" cy="74469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9963" y="15889288"/>
            <a:ext cx="24093487" cy="820102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6ACB20-2107-44BE-B2CC-B14EAF0C5AC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16050" y="8748713"/>
            <a:ext cx="12680950" cy="24741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249400" y="8748713"/>
            <a:ext cx="12680950" cy="24741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236779-5E9A-4021-987F-BF467783E5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638" y="1501775"/>
            <a:ext cx="25511125" cy="6248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7638" y="8391525"/>
            <a:ext cx="12523787" cy="34972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17638" y="11888788"/>
            <a:ext cx="12523787" cy="216011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400213" y="8391525"/>
            <a:ext cx="12528550" cy="34972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400213" y="11888788"/>
            <a:ext cx="12528550" cy="216011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5956E3-F925-4B2F-B67C-0362A17B434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17E28-2953-45E5-BD57-5C994F1D70C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780DBE-A355-4BA7-A4A1-D5B2B94064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638" y="1492250"/>
            <a:ext cx="9324975" cy="63531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2338" y="1492250"/>
            <a:ext cx="15846425" cy="31997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7638" y="7845425"/>
            <a:ext cx="9324975" cy="256444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962F62-D126-4928-99D9-2AD7889DA3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250" y="26242963"/>
            <a:ext cx="17008475" cy="30988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56250" y="3349625"/>
            <a:ext cx="17008475" cy="224948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250" y="29341763"/>
            <a:ext cx="17008475" cy="43989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266C71-E6FB-43EF-A40A-1B5FF2B494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7D580A-1A2C-454F-BAD1-832B69D084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551775" y="1501775"/>
            <a:ext cx="6378575" cy="319881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16050" y="1501775"/>
            <a:ext cx="18983325" cy="31988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078B6A-AB49-4B83-A3C2-4FE7F099E39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16050" y="1501775"/>
            <a:ext cx="255143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5983" tIns="187992" rIns="375983" bIns="1879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16050" y="8748713"/>
            <a:ext cx="25514300" cy="2474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5983" tIns="187992" rIns="375983" bIns="1879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16050" y="34140775"/>
            <a:ext cx="6616700" cy="260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5983" tIns="187992" rIns="375983" bIns="187992" numCol="1" anchor="t" anchorCtr="0" compatLnSpc="1">
            <a:prstTxWarp prst="textNoShape">
              <a:avLst/>
            </a:prstTxWarp>
          </a:bodyPr>
          <a:lstStyle>
            <a:lvl1pPr algn="l" defTabSz="3759200">
              <a:defRPr sz="58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683750" y="34140775"/>
            <a:ext cx="8978900" cy="260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5983" tIns="187992" rIns="375983" bIns="187992" numCol="1" anchor="t" anchorCtr="0" compatLnSpc="1">
            <a:prstTxWarp prst="textNoShape">
              <a:avLst/>
            </a:prstTxWarp>
          </a:bodyPr>
          <a:lstStyle>
            <a:lvl1pPr defTabSz="3759200">
              <a:defRPr sz="58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313650" y="34140775"/>
            <a:ext cx="6616700" cy="260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75983" tIns="187992" rIns="375983" bIns="187992" numCol="1" anchor="t" anchorCtr="0" compatLnSpc="1">
            <a:prstTxWarp prst="textNoShape">
              <a:avLst/>
            </a:prstTxWarp>
          </a:bodyPr>
          <a:lstStyle>
            <a:lvl1pPr algn="r" defTabSz="3759200">
              <a:defRPr sz="5800"/>
            </a:lvl1pPr>
          </a:lstStyle>
          <a:p>
            <a:fld id="{1631B78A-CB47-44DA-8976-E15FEA91D4F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759200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759200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2pPr>
      <a:lvl3pPr algn="ctr" defTabSz="3759200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3pPr>
      <a:lvl4pPr algn="ctr" defTabSz="3759200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4pPr>
      <a:lvl5pPr algn="ctr" defTabSz="3759200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5pPr>
      <a:lvl6pPr marL="457200" algn="ctr" defTabSz="3759200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6pPr>
      <a:lvl7pPr marL="914400" algn="ctr" defTabSz="3759200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7pPr>
      <a:lvl8pPr marL="1371600" algn="ctr" defTabSz="3759200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8pPr>
      <a:lvl9pPr marL="1828800" algn="ctr" defTabSz="3759200" rtl="0" fontAlgn="base">
        <a:spcBef>
          <a:spcPct val="0"/>
        </a:spcBef>
        <a:spcAft>
          <a:spcPct val="0"/>
        </a:spcAft>
        <a:defRPr sz="18100">
          <a:solidFill>
            <a:schemeClr val="tx2"/>
          </a:solidFill>
          <a:latin typeface="Arial" charset="0"/>
        </a:defRPr>
      </a:lvl9pPr>
    </p:titleStyle>
    <p:bodyStyle>
      <a:lvl1pPr marL="1409700" indent="-1409700" algn="l" defTabSz="3759200" rtl="0" fontAlgn="base">
        <a:spcBef>
          <a:spcPct val="20000"/>
        </a:spcBef>
        <a:spcAft>
          <a:spcPct val="0"/>
        </a:spcAft>
        <a:buChar char="•"/>
        <a:defRPr sz="13200">
          <a:solidFill>
            <a:schemeClr val="tx1"/>
          </a:solidFill>
          <a:latin typeface="+mn-lt"/>
          <a:ea typeface="+mn-ea"/>
          <a:cs typeface="+mn-cs"/>
        </a:defRPr>
      </a:lvl1pPr>
      <a:lvl2pPr marL="3052763" indent="-1171575" algn="l" defTabSz="3759200" rtl="0" fontAlgn="base">
        <a:spcBef>
          <a:spcPct val="20000"/>
        </a:spcBef>
        <a:spcAft>
          <a:spcPct val="0"/>
        </a:spcAft>
        <a:buChar char="–"/>
        <a:defRPr sz="11500">
          <a:solidFill>
            <a:schemeClr val="tx1"/>
          </a:solidFill>
          <a:latin typeface="+mn-lt"/>
        </a:defRPr>
      </a:lvl2pPr>
      <a:lvl3pPr marL="4702175" indent="-942975" algn="l" defTabSz="3759200" rtl="0" fontAlgn="base">
        <a:spcBef>
          <a:spcPct val="20000"/>
        </a:spcBef>
        <a:spcAft>
          <a:spcPct val="0"/>
        </a:spcAft>
        <a:buChar char="•"/>
        <a:defRPr sz="9900">
          <a:solidFill>
            <a:schemeClr val="tx1"/>
          </a:solidFill>
          <a:latin typeface="+mn-lt"/>
        </a:defRPr>
      </a:lvl3pPr>
      <a:lvl4pPr marL="6581775" indent="-939800" algn="l" defTabSz="3759200" rtl="0" fontAlgn="base">
        <a:spcBef>
          <a:spcPct val="20000"/>
        </a:spcBef>
        <a:spcAft>
          <a:spcPct val="0"/>
        </a:spcAft>
        <a:buChar char="–"/>
        <a:defRPr sz="8200">
          <a:solidFill>
            <a:schemeClr val="tx1"/>
          </a:solidFill>
          <a:latin typeface="+mn-lt"/>
        </a:defRPr>
      </a:lvl4pPr>
      <a:lvl5pPr marL="8461375" indent="-938213" algn="l" defTabSz="3759200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5pPr>
      <a:lvl6pPr marL="8918575" indent="-938213" algn="l" defTabSz="3759200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6pPr>
      <a:lvl7pPr marL="9375775" indent="-938213" algn="l" defTabSz="3759200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7pPr>
      <a:lvl8pPr marL="9832975" indent="-938213" algn="l" defTabSz="3759200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8pPr>
      <a:lvl9pPr marL="10290175" indent="-938213" algn="l" defTabSz="3759200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9" name="Line 1057"/>
          <p:cNvSpPr>
            <a:spLocks noChangeAspect="1" noChangeShapeType="1"/>
          </p:cNvSpPr>
          <p:nvPr/>
        </p:nvSpPr>
        <p:spPr bwMode="auto">
          <a:xfrm>
            <a:off x="1140901" y="5257800"/>
            <a:ext cx="2558121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 dirty="0"/>
          </a:p>
        </p:txBody>
      </p:sp>
      <p:sp>
        <p:nvSpPr>
          <p:cNvPr id="4130" name="Text Box 1058"/>
          <p:cNvSpPr txBox="1">
            <a:spLocks noChangeAspect="1" noChangeArrowheads="1"/>
          </p:cNvSpPr>
          <p:nvPr/>
        </p:nvSpPr>
        <p:spPr bwMode="auto">
          <a:xfrm>
            <a:off x="1624280" y="-104097"/>
            <a:ext cx="23545800" cy="535528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1411" tIns="45705" rIns="91411" bIns="45705">
            <a:spAutoFit/>
          </a:bodyPr>
          <a:lstStyle/>
          <a:p>
            <a:endParaRPr lang="fa-IR" sz="6600" dirty="0">
              <a:cs typeface="B Zar" panose="00000400000000000000" pitchFamily="2" charset="-78"/>
            </a:endParaRPr>
          </a:p>
          <a:p>
            <a:r>
              <a:rPr lang="fa-IR" sz="6600" dirty="0" err="1">
                <a:cs typeface="B Zar" panose="00000400000000000000" pitchFamily="2" charset="-78"/>
              </a:rPr>
              <a:t>پیش‌بینی</a:t>
            </a:r>
            <a:r>
              <a:rPr lang="fa-IR" sz="6600" dirty="0">
                <a:cs typeface="B Zar" panose="00000400000000000000" pitchFamily="2" charset="-78"/>
              </a:rPr>
              <a:t> اولین رکورد دام با بهره‌گیری از </a:t>
            </a:r>
            <a:r>
              <a:rPr lang="fa-IR" sz="6600" dirty="0" err="1">
                <a:cs typeface="B Zar" panose="00000400000000000000" pitchFamily="2" charset="-78"/>
              </a:rPr>
              <a:t>الگوریتم‌های</a:t>
            </a:r>
            <a:endParaRPr lang="fa-IR" sz="6600" dirty="0">
              <a:cs typeface="B Zar" panose="00000400000000000000" pitchFamily="2" charset="-78"/>
            </a:endParaRPr>
          </a:p>
          <a:p>
            <a:r>
              <a:rPr lang="fa-IR" sz="6600" dirty="0">
                <a:cs typeface="B Zar" panose="00000400000000000000" pitchFamily="2" charset="-78"/>
              </a:rPr>
              <a:t> یادگیری ماشین و </a:t>
            </a:r>
            <a:r>
              <a:rPr lang="fa-IR" sz="6600" dirty="0" err="1">
                <a:cs typeface="B Zar" panose="00000400000000000000" pitchFamily="2" charset="-78"/>
              </a:rPr>
              <a:t>داده‌های</a:t>
            </a:r>
            <a:r>
              <a:rPr lang="fa-IR" sz="6600" dirty="0">
                <a:cs typeface="B Zar" panose="00000400000000000000" pitchFamily="2" charset="-78"/>
              </a:rPr>
              <a:t> تاریخی</a:t>
            </a:r>
          </a:p>
          <a:p>
            <a:r>
              <a:rPr lang="fa-IR" sz="4800" dirty="0">
                <a:cs typeface="B Zar" panose="00000400000000000000" pitchFamily="2" charset="-78"/>
              </a:rPr>
              <a:t>سپهر عبادی</a:t>
            </a:r>
          </a:p>
          <a:p>
            <a:r>
              <a:rPr lang="fa-IR" sz="4800" dirty="0">
                <a:cs typeface="B Zar" panose="00000400000000000000" pitchFamily="2" charset="-78"/>
              </a:rPr>
              <a:t>استاد راهنما : دکتر هدی </a:t>
            </a:r>
            <a:r>
              <a:rPr lang="fa-IR" sz="4800" dirty="0" err="1">
                <a:cs typeface="B Zar" panose="00000400000000000000" pitchFamily="2" charset="-78"/>
              </a:rPr>
              <a:t>صفائی</a:t>
            </a:r>
            <a:r>
              <a:rPr lang="fa-IR" sz="4800" dirty="0">
                <a:cs typeface="B Zar" panose="00000400000000000000" pitchFamily="2" charset="-78"/>
              </a:rPr>
              <a:t> پور</a:t>
            </a:r>
          </a:p>
          <a:p>
            <a:r>
              <a:rPr lang="fa-IR" sz="4800" dirty="0">
                <a:cs typeface="B Zar" panose="00000400000000000000" pitchFamily="2" charset="-78"/>
              </a:rPr>
              <a:t>تیر  1404 </a:t>
            </a:r>
          </a:p>
        </p:txBody>
      </p:sp>
      <p:sp>
        <p:nvSpPr>
          <p:cNvPr id="4189" name="Rectangle 1117"/>
          <p:cNvSpPr>
            <a:spLocks noChangeAspect="1" noChangeArrowheads="1"/>
          </p:cNvSpPr>
          <p:nvPr/>
        </p:nvSpPr>
        <p:spPr bwMode="auto">
          <a:xfrm>
            <a:off x="228600" y="457200"/>
            <a:ext cx="27424063" cy="365648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190" name="Rectangle 1118"/>
          <p:cNvSpPr>
            <a:spLocks noChangeArrowheads="1"/>
          </p:cNvSpPr>
          <p:nvPr/>
        </p:nvSpPr>
        <p:spPr bwMode="auto">
          <a:xfrm>
            <a:off x="457200" y="685800"/>
            <a:ext cx="26966863" cy="361076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211" name="Rectangle 1139"/>
          <p:cNvSpPr>
            <a:spLocks noChangeArrowheads="1"/>
          </p:cNvSpPr>
          <p:nvPr/>
        </p:nvSpPr>
        <p:spPr bwMode="auto">
          <a:xfrm>
            <a:off x="700476" y="6661320"/>
            <a:ext cx="11430000" cy="20500011"/>
          </a:xfrm>
          <a:prstGeom prst="rect">
            <a:avLst/>
          </a:prstGeom>
          <a:noFill/>
          <a:ln w="76200">
            <a:solidFill>
              <a:srgbClr val="3265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3759200"/>
            <a:endParaRPr lang="en-US" b="1"/>
          </a:p>
        </p:txBody>
      </p:sp>
      <p:sp>
        <p:nvSpPr>
          <p:cNvPr id="4214" name="Rectangle 1142"/>
          <p:cNvSpPr>
            <a:spLocks noChangeArrowheads="1"/>
          </p:cNvSpPr>
          <p:nvPr/>
        </p:nvSpPr>
        <p:spPr bwMode="auto">
          <a:xfrm>
            <a:off x="12573000" y="17050946"/>
            <a:ext cx="14623390" cy="9702655"/>
          </a:xfrm>
          <a:prstGeom prst="rect">
            <a:avLst/>
          </a:prstGeom>
          <a:noFill/>
          <a:ln w="76200">
            <a:solidFill>
              <a:srgbClr val="326598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defTabSz="3552825">
              <a:spcBef>
                <a:spcPct val="50000"/>
              </a:spcBef>
            </a:pPr>
            <a:endParaRPr lang="en-US" sz="80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216" name="Rectangle 1144"/>
          <p:cNvSpPr>
            <a:spLocks noChangeArrowheads="1"/>
          </p:cNvSpPr>
          <p:nvPr/>
        </p:nvSpPr>
        <p:spPr bwMode="auto">
          <a:xfrm>
            <a:off x="12573000" y="6659755"/>
            <a:ext cx="14630400" cy="9130159"/>
          </a:xfrm>
          <a:prstGeom prst="rect">
            <a:avLst/>
          </a:prstGeom>
          <a:noFill/>
          <a:ln w="76200">
            <a:solidFill>
              <a:srgbClr val="326598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3759200"/>
            <a:endParaRPr lang="en-US" i="1"/>
          </a:p>
        </p:txBody>
      </p:sp>
      <p:sp>
        <p:nvSpPr>
          <p:cNvPr id="4248" name="Rectangle 1176"/>
          <p:cNvSpPr>
            <a:spLocks noChangeArrowheads="1"/>
          </p:cNvSpPr>
          <p:nvPr/>
        </p:nvSpPr>
        <p:spPr bwMode="auto">
          <a:xfrm>
            <a:off x="0" y="0"/>
            <a:ext cx="28346400" cy="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CA"/>
          </a:p>
        </p:txBody>
      </p:sp>
      <p:sp>
        <p:nvSpPr>
          <p:cNvPr id="4250" name="Rectangle 1178"/>
          <p:cNvSpPr>
            <a:spLocks noChangeArrowheads="1"/>
          </p:cNvSpPr>
          <p:nvPr/>
        </p:nvSpPr>
        <p:spPr bwMode="auto">
          <a:xfrm>
            <a:off x="0" y="18516600"/>
            <a:ext cx="28346400" cy="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CA"/>
          </a:p>
        </p:txBody>
      </p:sp>
      <p:sp>
        <p:nvSpPr>
          <p:cNvPr id="4253" name="Rectangle 1181"/>
          <p:cNvSpPr>
            <a:spLocks noChangeArrowheads="1"/>
          </p:cNvSpPr>
          <p:nvPr/>
        </p:nvSpPr>
        <p:spPr bwMode="auto">
          <a:xfrm>
            <a:off x="0" y="0"/>
            <a:ext cx="28346400" cy="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CA"/>
          </a:p>
        </p:txBody>
      </p:sp>
      <p:sp>
        <p:nvSpPr>
          <p:cNvPr id="4254" name="Rectangle 1182"/>
          <p:cNvSpPr>
            <a:spLocks noChangeArrowheads="1"/>
          </p:cNvSpPr>
          <p:nvPr/>
        </p:nvSpPr>
        <p:spPr bwMode="auto">
          <a:xfrm>
            <a:off x="0" y="457200"/>
            <a:ext cx="342900" cy="60960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 sz="1200">
                <a:latin typeface="Times New Roman" pitchFamily="18" charset="0"/>
                <a:ea typeface="MS Mincho" pitchFamily="49" charset="-128"/>
                <a:cs typeface="Times New Roman" pitchFamily="18" charset="0"/>
              </a:rPr>
              <a:t> </a:t>
            </a:r>
            <a:r>
              <a:rPr lang="en-US" sz="3400">
                <a:ea typeface="MS Mincho" pitchFamily="49" charset="-128"/>
                <a:cs typeface="Times New Roman" pitchFamily="18" charset="0"/>
              </a:rPr>
              <a:t> </a:t>
            </a:r>
            <a:endParaRPr lang="en-US" sz="1800">
              <a:ea typeface="MS Mincho" pitchFamily="49" charset="-128"/>
              <a:cs typeface="Times New Roman" pitchFamily="18" charset="0"/>
            </a:endParaRPr>
          </a:p>
        </p:txBody>
      </p:sp>
      <p:graphicFrame>
        <p:nvGraphicFramePr>
          <p:cNvPr id="4255" name="Object 1183"/>
          <p:cNvGraphicFramePr>
            <a:graphicFrameLocks noChangeAspect="1"/>
          </p:cNvGraphicFramePr>
          <p:nvPr/>
        </p:nvGraphicFramePr>
        <p:xfrm>
          <a:off x="14116050" y="186372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5"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0" name="Picture 1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16050" y="186372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60" name="Rectangle 1188"/>
          <p:cNvSpPr>
            <a:spLocks noChangeArrowheads="1"/>
          </p:cNvSpPr>
          <p:nvPr/>
        </p:nvSpPr>
        <p:spPr bwMode="auto">
          <a:xfrm>
            <a:off x="0" y="0"/>
            <a:ext cx="28346400" cy="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CA"/>
          </a:p>
        </p:txBody>
      </p:sp>
      <p:sp>
        <p:nvSpPr>
          <p:cNvPr id="4268" name="Rectangle 1196"/>
          <p:cNvSpPr>
            <a:spLocks noChangeArrowheads="1"/>
          </p:cNvSpPr>
          <p:nvPr/>
        </p:nvSpPr>
        <p:spPr bwMode="auto">
          <a:xfrm>
            <a:off x="0" y="0"/>
            <a:ext cx="28346400" cy="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CA"/>
          </a:p>
        </p:txBody>
      </p:sp>
      <p:sp>
        <p:nvSpPr>
          <p:cNvPr id="4270" name="Rectangle 1198"/>
          <p:cNvSpPr>
            <a:spLocks noChangeArrowheads="1"/>
          </p:cNvSpPr>
          <p:nvPr/>
        </p:nvSpPr>
        <p:spPr bwMode="auto">
          <a:xfrm>
            <a:off x="0" y="18535650"/>
            <a:ext cx="28346400" cy="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CA"/>
          </a:p>
        </p:txBody>
      </p:sp>
      <p:sp>
        <p:nvSpPr>
          <p:cNvPr id="4273" name="Rectangle 1201"/>
          <p:cNvSpPr>
            <a:spLocks noChangeArrowheads="1"/>
          </p:cNvSpPr>
          <p:nvPr/>
        </p:nvSpPr>
        <p:spPr bwMode="auto">
          <a:xfrm>
            <a:off x="0" y="18388013"/>
            <a:ext cx="28346400" cy="0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CA"/>
          </a:p>
        </p:txBody>
      </p:sp>
      <p:pic>
        <p:nvPicPr>
          <p:cNvPr id="4280" name="Picture 1208" descr="https://media.licdn.com/mpr/mpr/shrink_160_160/p/5/005/03a/33f/0bb7650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257143" y="1028475"/>
            <a:ext cx="3825875" cy="3825877"/>
          </a:xfrm>
          <a:prstGeom prst="rect">
            <a:avLst/>
          </a:prstGeom>
          <a:noFill/>
        </p:spPr>
      </p:pic>
      <p:sp>
        <p:nvSpPr>
          <p:cNvPr id="44" name="Rectangle 1169">
            <a:extLst>
              <a:ext uri="{FF2B5EF4-FFF2-40B4-BE49-F238E27FC236}">
                <a16:creationId xmlns:a16="http://schemas.microsoft.com/office/drawing/2014/main" id="{4AF4D058-6A8C-4E36-A944-D41EA9D47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737" y="5575775"/>
            <a:ext cx="11430000" cy="914400"/>
          </a:xfrm>
          <a:prstGeom prst="rect">
            <a:avLst/>
          </a:prstGeom>
          <a:solidFill>
            <a:srgbClr val="00B0F0">
              <a:alpha val="10001"/>
            </a:srgbClr>
          </a:solidFill>
          <a:ln w="76200">
            <a:solidFill>
              <a:srgbClr val="326598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3759200"/>
            <a:endParaRPr lang="en-US" b="1" dirty="0"/>
          </a:p>
        </p:txBody>
      </p:sp>
      <p:sp>
        <p:nvSpPr>
          <p:cNvPr id="45" name="Rectangle 1169">
            <a:extLst>
              <a:ext uri="{FF2B5EF4-FFF2-40B4-BE49-F238E27FC236}">
                <a16:creationId xmlns:a16="http://schemas.microsoft.com/office/drawing/2014/main" id="{6AD03107-0646-4693-B7E6-E8CE8CF12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15" y="27332934"/>
            <a:ext cx="11423261" cy="971356"/>
          </a:xfrm>
          <a:prstGeom prst="rect">
            <a:avLst/>
          </a:prstGeom>
          <a:solidFill>
            <a:srgbClr val="00B0F0">
              <a:alpha val="10001"/>
            </a:srgbClr>
          </a:solidFill>
          <a:ln w="76200">
            <a:solidFill>
              <a:srgbClr val="326598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3759200"/>
            <a:endParaRPr lang="fa-IR" sz="48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 defTabSz="3759200"/>
            <a:endParaRPr lang="en-US" sz="4800" b="1" dirty="0"/>
          </a:p>
        </p:txBody>
      </p:sp>
      <p:sp>
        <p:nvSpPr>
          <p:cNvPr id="46" name="Rectangle 1169">
            <a:extLst>
              <a:ext uri="{FF2B5EF4-FFF2-40B4-BE49-F238E27FC236}">
                <a16:creationId xmlns:a16="http://schemas.microsoft.com/office/drawing/2014/main" id="{B20272CD-E92E-4875-9761-B60162E88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0" y="15963900"/>
            <a:ext cx="14623390" cy="914400"/>
          </a:xfrm>
          <a:prstGeom prst="rect">
            <a:avLst/>
          </a:prstGeom>
          <a:solidFill>
            <a:srgbClr val="00B0F0">
              <a:alpha val="10001"/>
            </a:srgbClr>
          </a:solidFill>
          <a:ln w="76200">
            <a:solidFill>
              <a:srgbClr val="326598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3759200"/>
            <a:endParaRPr lang="en-US" sz="4800" b="1" dirty="0"/>
          </a:p>
        </p:txBody>
      </p:sp>
      <p:sp>
        <p:nvSpPr>
          <p:cNvPr id="47" name="Rectangle 1169">
            <a:extLst>
              <a:ext uri="{FF2B5EF4-FFF2-40B4-BE49-F238E27FC236}">
                <a16:creationId xmlns:a16="http://schemas.microsoft.com/office/drawing/2014/main" id="{0DA4E4CC-ECBB-4FB8-9B7C-52C77E4DB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0" y="5578984"/>
            <a:ext cx="14630400" cy="914400"/>
          </a:xfrm>
          <a:prstGeom prst="rect">
            <a:avLst/>
          </a:prstGeom>
          <a:solidFill>
            <a:srgbClr val="00B0F0">
              <a:alpha val="10001"/>
            </a:srgbClr>
          </a:solidFill>
          <a:ln w="76200">
            <a:solidFill>
              <a:srgbClr val="326598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3759200"/>
            <a:endParaRPr lang="fa-I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defTabSz="3759200"/>
            <a:endParaRPr lang="fa-IR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defTabSz="3759200"/>
            <a:endParaRPr lang="en-US" sz="4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B1F2E0-63B4-44D7-8C68-36AC94951649}"/>
              </a:ext>
            </a:extLst>
          </p:cNvPr>
          <p:cNvSpPr txBox="1"/>
          <p:nvPr/>
        </p:nvSpPr>
        <p:spPr>
          <a:xfrm>
            <a:off x="12801600" y="6814567"/>
            <a:ext cx="14281418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صنعت دامداری نقش حیاتی در تأمین غذای جهان و اقتصاد کشور ایفا می‌کند. با این حال،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بهینه‌سازی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تولید و مدیریت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گله‌ها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همواره با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چالش‌هایی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همراه بوده است. </a:t>
            </a:r>
          </a:p>
          <a:p>
            <a:pPr algn="justLow" rtl="1"/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یکی از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حساس‌ترین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دوره‌ها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در چرخه تولید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گاوهای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شیری، "</a:t>
            </a:r>
            <a:r>
              <a:rPr lang="fa-IR" sz="3200" b="1" dirty="0">
                <a:latin typeface="XB Zar" panose="02000506090000020003" pitchFamily="2" charset="-78"/>
                <a:cs typeface="XB Zar" panose="02000506090000020003" pitchFamily="2" charset="-78"/>
              </a:rPr>
              <a:t>دوره انتقال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" است. این دوره شامل سه هفته قبل و سه هفته پس از زایش می‌شود و با تغییرات گسترده فیزیولوژیکی و متابولیکی همراه است که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می‌تواند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سلامت دام و موفقیت دوره شیردهی را تحت تأثیر قرار دهد.</a:t>
            </a:r>
          </a:p>
          <a:p>
            <a:pPr algn="justLow" rtl="1"/>
            <a:r>
              <a:rPr lang="fa-IR" sz="3200" b="1" dirty="0">
                <a:latin typeface="XB Zar" panose="02000506090000020003" pitchFamily="2" charset="-78"/>
                <a:cs typeface="XB Zar" panose="02000506090000020003" pitchFamily="2" charset="-78"/>
              </a:rPr>
              <a:t>چالش اصلی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: عدم مدیریت صحیح در این دوره حیاتی، به کاهش تولید شیر، افزایش شیوع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بیماری‌ها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، و تحمیل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هزینه‌های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اقتصادی سنگین بر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دامداری‌ها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منجر می‌شود. برای مقابله با این چالش‌ها، نیاز به ابزارهای دقیق و کارآمد برای ارزیابی عملکرد و سلامت گاوها ضروری است.</a:t>
            </a:r>
          </a:p>
          <a:p>
            <a:pPr algn="justLow" rtl="1"/>
            <a:r>
              <a:rPr lang="fa-IR" sz="3200" b="1" dirty="0" err="1">
                <a:latin typeface="XB Zar" panose="02000506090000020003" pitchFamily="2" charset="-78"/>
                <a:cs typeface="XB Zar" panose="02000506090000020003" pitchFamily="2" charset="-78"/>
              </a:rPr>
              <a:t>راه‌حل</a:t>
            </a:r>
            <a:r>
              <a:rPr lang="fa-IR" sz="3200" b="1" dirty="0">
                <a:latin typeface="XB Zar" panose="02000506090000020003" pitchFamily="2" charset="-78"/>
                <a:cs typeface="XB Zar" panose="02000506090000020003" pitchFamily="2" charset="-78"/>
              </a:rPr>
              <a:t> قدیمی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: ابزارهای مستقیم مانند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اندازه‌گیری‌های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آزمایشگاهی (مانند سطح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بتا-هیدروکسی‌بوتیرات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در خون برای تشخیص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کتوز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)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می‌توانند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سلامت گاوها را ارزیابی کنند، اما این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روش‌ها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زمان‌بر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و پرهزینه هستند.</a:t>
            </a:r>
          </a:p>
          <a:p>
            <a:pPr algn="justLow" rtl="1"/>
            <a:r>
              <a:rPr lang="fa-IR" sz="3200" b="1" dirty="0" err="1">
                <a:latin typeface="XB Zar" panose="02000506090000020003" pitchFamily="2" charset="-78"/>
                <a:cs typeface="XB Zar" panose="02000506090000020003" pitchFamily="2" charset="-78"/>
              </a:rPr>
              <a:t>راه‌حل</a:t>
            </a:r>
            <a:r>
              <a:rPr lang="fa-IR" sz="3200" b="1" dirty="0">
                <a:latin typeface="XB Zar" panose="02000506090000020003" pitchFamily="2" charset="-78"/>
                <a:cs typeface="XB Zar" panose="02000506090000020003" pitchFamily="2" charset="-78"/>
              </a:rPr>
              <a:t> نوین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: یادگیری ماشین به عنوان یکی از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پیشروترین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شاخه‌های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هوش مصنوعی، با قابلیت تحلیل حجم عظیمی از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داده‌ها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،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راهکاری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امیدبخش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برای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پیش‌بینی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و بهبود مدیریت در صنعت دامداری ارائه می‌دهد.</a:t>
            </a:r>
          </a:p>
          <a:p>
            <a:pPr algn="justLow" rtl="1"/>
            <a:r>
              <a:rPr lang="fa-IR" sz="3200" b="1" dirty="0">
                <a:latin typeface="XB Zar" panose="02000506090000020003" pitchFamily="2" charset="-78"/>
                <a:cs typeface="XB Zar" panose="02000506090000020003" pitchFamily="2" charset="-78"/>
              </a:rPr>
              <a:t>هدف پژوهش ما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: توسعه مدل‌های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پیش‌بینی‌کننده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دقیق برای تخمین اولین رکورد شیردهی گاوها در دوره بعدی پس از زایش است. این کار به عنوان یک ابزار نوین، به ارزیابی غیرمستقیم کیفیت مدیریت دوره انتقال کمک کرده و مسیر را برای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تصمیم‌گیری‌های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هوشمند و مبتنی بر داده در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دامداری‌ها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هموار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می‌سازد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AE1047-C695-4D87-8CB6-69241D7F9956}"/>
              </a:ext>
            </a:extLst>
          </p:cNvPr>
          <p:cNvSpPr txBox="1"/>
          <p:nvPr/>
        </p:nvSpPr>
        <p:spPr>
          <a:xfrm>
            <a:off x="15891333" y="16184315"/>
            <a:ext cx="915544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Zar" panose="00000400000000000000" pitchFamily="2" charset="-78"/>
              </a:rPr>
              <a:t>2. </a:t>
            </a:r>
            <a:r>
              <a:rPr lang="fa-IR" sz="3200" b="1" dirty="0">
                <a:effectLst/>
                <a:latin typeface="XB Zar" panose="02000506090000020003" pitchFamily="2" charset="-78"/>
                <a:ea typeface="Calibri" panose="020F0502020204030204" pitchFamily="34" charset="0"/>
                <a:cs typeface="XB Zar" panose="02000506090000020003" pitchFamily="2" charset="-78"/>
              </a:rPr>
              <a:t>رویکرد داده‌ محور: از جمع‌آوری تا مدل سازی پیشرفته</a:t>
            </a:r>
            <a:endParaRPr lang="en-US" sz="3200" b="1" dirty="0">
              <a:effectLst/>
              <a:latin typeface="XB Zar" panose="02000506090000020003" pitchFamily="2" charset="-78"/>
              <a:ea typeface="Calibri" panose="020F0502020204030204" pitchFamily="34" charset="0"/>
              <a:cs typeface="XB Zar" panose="02000506090000020003" pitchFamily="2" charset="-78"/>
            </a:endParaRPr>
          </a:p>
          <a:p>
            <a:endParaRPr lang="en-US" sz="7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D2F2C-6F42-4613-80D2-29E8FE1943EC}"/>
              </a:ext>
            </a:extLst>
          </p:cNvPr>
          <p:cNvSpPr txBox="1"/>
          <p:nvPr/>
        </p:nvSpPr>
        <p:spPr>
          <a:xfrm>
            <a:off x="18516600" y="5789083"/>
            <a:ext cx="2743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Zar" panose="00000400000000000000" pitchFamily="2" charset="-78"/>
              </a:rPr>
              <a:t>1. </a:t>
            </a:r>
            <a:r>
              <a:rPr lang="fa-IR" sz="3200" b="1" dirty="0">
                <a:effectLst/>
                <a:latin typeface="XB Zar" panose="02000506090000020003" pitchFamily="2" charset="-78"/>
                <a:ea typeface="Calibri" panose="020F0502020204030204" pitchFamily="34" charset="0"/>
                <a:cs typeface="XB Zar" panose="02000506090000020003" pitchFamily="2" charset="-78"/>
              </a:rPr>
              <a:t>مقدمه</a:t>
            </a:r>
            <a:endParaRPr lang="fa-IR" sz="6000" b="1" dirty="0">
              <a:effectLst>
                <a:outerShdw blurRad="38100" dist="38100" dir="2700000" algn="tl">
                  <a:srgbClr val="C0C0C0"/>
                </a:outerShdw>
              </a:effectLst>
              <a:latin typeface="XB Zar" panose="02000506090000020003" pitchFamily="2" charset="-78"/>
              <a:cs typeface="XB Zar" panose="02000506090000020003" pitchFamily="2" charset="-78"/>
            </a:endParaRPr>
          </a:p>
          <a:p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018B13-BA53-47CE-8284-9D057E705296}"/>
                  </a:ext>
                </a:extLst>
              </p:cNvPr>
              <p:cNvSpPr txBox="1"/>
              <p:nvPr/>
            </p:nvSpPr>
            <p:spPr>
              <a:xfrm flipH="1">
                <a:off x="12941826" y="17171511"/>
                <a:ext cx="14141192" cy="944874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Low" rtl="1"/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هدف ما توسعه مدلی دقیق برای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پیش‌بینی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اولین رکورد شیردهی گاوها، به عنوان ابزاری برای ارزیابی شاخص دوره انتقال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(TCI)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بود.</a:t>
                </a:r>
              </a:p>
              <a:p>
                <a:pPr algn="justLow" rtl="1"/>
                <a:r>
                  <a:rPr lang="fa-IR" sz="3200" b="1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دیتاست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: از ۳۴۵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,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۶۷۶ رکورد گاو از ۹۹ دامداری در سراسر کشور (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سال‌های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۱۳۹۰-۱۴۰۱) استفاده شد. این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داده‌ها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شامل اطلاعات جامع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دوره‌های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شیردهی پیشین و روزهای تست، بود که از تعاونی دامداران استان اصفهان جمع‌آوری شدند.</a:t>
                </a:r>
              </a:p>
              <a:p>
                <a:pPr algn="justLow" rtl="1"/>
                <a:r>
                  <a:rPr lang="fa-IR" sz="3200" b="1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پیش‌پردازش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: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داده‌های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نامعتبر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(مانند شیر آغوز) حذف، مقادیر گمشده با میانه پر شده، و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داده‌ها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به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مجموعه‌های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آموزش (۷۰%)،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اعتبارسنجی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(۱۵%)، و آزمون (۱۵%) تقسیم شدند. برای بهبود عملکرد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مدل‌ها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، از استانداردسازی </a:t>
                </a:r>
                <a:r>
                  <a:rPr lang="en-US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StandardScaler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)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)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و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مقیاس‌دهی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مقاوم </a:t>
                </a:r>
                <a:r>
                  <a:rPr lang="en-US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RobustScaler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)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)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برای تنظیم مقیاس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ویژگی‌ها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استفاده شد تا تأثیر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نویز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و پراکندگی کاهش یابد.</a:t>
                </a:r>
              </a:p>
              <a:p>
                <a:pPr algn="justLow" rtl="1"/>
                <a:r>
                  <a:rPr lang="fa-IR" sz="3200" b="1" dirty="0">
                    <a:latin typeface="XB Zar" panose="02000506090000020003" pitchFamily="2" charset="-78"/>
                    <a:cs typeface="XB Zar" panose="02000506090000020003" pitchFamily="2" charset="-78"/>
                  </a:rPr>
                  <a:t>مدل‌های توسعه داده شده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: برای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پیش‌بینی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، از طیف وسیعی از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الگوریتم‌های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پیشرفته استفاده شد: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رگرسیون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ریج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، جنگل تصادفی،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رگرسیون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بردار پشتیبانی 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SVR)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)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با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هسته‌های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مختلف (خطی،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چندجمله‌ای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، شعاعی)، افزایش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گرادیان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افراطی 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(</a:t>
                </a:r>
                <a:r>
                  <a:rPr lang="en-US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XGBoost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)، 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تقویت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دسته‌ای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(</a:t>
                </a:r>
                <a:r>
                  <a:rPr lang="en-US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CatBoost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)،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شبکه‌های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عصبی چندلایه 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(MLP)، 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و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شبکه‌های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عصبی عمیق 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(DNN)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.</a:t>
                </a:r>
              </a:p>
              <a:p>
                <a:pPr algn="justLow" rtl="1"/>
                <a:r>
                  <a:rPr lang="fa-IR" sz="3200" b="1" dirty="0">
                    <a:latin typeface="XB Zar" panose="02000506090000020003" pitchFamily="2" charset="-78"/>
                    <a:cs typeface="XB Zar" panose="02000506090000020003" pitchFamily="2" charset="-78"/>
                  </a:rPr>
                  <a:t>معیارهای ارزیابی </a:t>
                </a:r>
                <a:r>
                  <a:rPr lang="fa-IR" sz="3200" b="1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مدل‌ها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: عملکرد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مدل‌ها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با معیارهای استاندارد ضریب تعیین 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XB Zar" panose="02000506090000020003" pitchFamily="2" charset="-78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XB Zar" panose="02000506090000020003" pitchFamily="2" charset="-78"/>
                          </a:rPr>
                          <m:t>𝑅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XB Zar" panose="02000506090000020003" pitchFamily="2" charset="-7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)، 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میانگین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قدرمطلق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خطا 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(MAE)، 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ریشه میانگین مربع خطا 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(RMSE)، 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درصد خطای میانگین 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(MPE)، 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میانگین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قدرمطلق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درصد خطای متقارن 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(</a:t>
                </a:r>
                <a:r>
                  <a:rPr lang="en-US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sMAPE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)، 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و انحراف استاندارد نسبی </a:t>
                </a:r>
                <a:r>
                  <a:rPr lang="en-US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(SDR)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ارزیابی شد تا یک مقایسه جامع و قابل اعتماد ارائه شود.</a:t>
                </a:r>
              </a:p>
              <a:p>
                <a:pPr algn="justLow" rtl="1"/>
                <a:r>
                  <a:rPr lang="fa-IR" sz="3200" b="1" dirty="0">
                    <a:latin typeface="XB Zar" panose="02000506090000020003" pitchFamily="2" charset="-78"/>
                    <a:cs typeface="XB Zar" panose="02000506090000020003" pitchFamily="2" charset="-78"/>
                  </a:rPr>
                  <a:t>توجه به پایداری </a:t>
                </a:r>
                <a:r>
                  <a:rPr lang="fa-IR" sz="3200" b="1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مدل‌ها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: برای اطمینان از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تعمیم‌پذیری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، از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اعتبارسنجی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متقاطع در برخی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مدل‌ها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استفاده شد تا از </a:t>
                </a:r>
                <a:r>
                  <a:rPr lang="fa-IR" sz="3200" dirty="0" err="1">
                    <a:latin typeface="XB Zar" panose="02000506090000020003" pitchFamily="2" charset="-78"/>
                    <a:cs typeface="XB Zar" panose="02000506090000020003" pitchFamily="2" charset="-78"/>
                  </a:rPr>
                  <a:t>بیش‌برازش</a:t>
                </a:r>
                <a:r>
                  <a:rPr lang="fa-IR" sz="3200" dirty="0">
                    <a:latin typeface="XB Zar" panose="02000506090000020003" pitchFamily="2" charset="-78"/>
                    <a:cs typeface="XB Zar" panose="02000506090000020003" pitchFamily="2" charset="-78"/>
                  </a:rPr>
                  <a:t> جلوگیری شود.</a:t>
                </a:r>
                <a:endParaRPr lang="en-US" sz="3200" dirty="0">
                  <a:latin typeface="XB Zar" panose="02000506090000020003" pitchFamily="2" charset="-78"/>
                  <a:cs typeface="XB Zar" panose="02000506090000020003" pitchFamily="2" charset="-78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018B13-BA53-47CE-8284-9D057E705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941826" y="17171511"/>
                <a:ext cx="14141192" cy="9448740"/>
              </a:xfrm>
              <a:prstGeom prst="rect">
                <a:avLst/>
              </a:prstGeom>
              <a:blipFill>
                <a:blip r:embed="rId6"/>
                <a:stretch>
                  <a:fillRect l="-1853" t="-839" r="-1121" b="-1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5D4D64A-2D77-44D5-91A8-14019AB9ADC9}"/>
              </a:ext>
            </a:extLst>
          </p:cNvPr>
          <p:cNvSpPr txBox="1"/>
          <p:nvPr/>
        </p:nvSpPr>
        <p:spPr>
          <a:xfrm flipH="1">
            <a:off x="16367967" y="27080719"/>
            <a:ext cx="6818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3200" b="1" dirty="0">
                <a:cs typeface="B Zar" panose="00000400000000000000" pitchFamily="2" charset="-78"/>
              </a:rPr>
              <a:t>3. </a:t>
            </a:r>
            <a:r>
              <a:rPr lang="fa-IR" sz="3200" b="1" dirty="0">
                <a:latin typeface="XB Zar" panose="02000506090000020003" pitchFamily="2" charset="-78"/>
                <a:cs typeface="XB Zar" panose="02000506090000020003" pitchFamily="2" charset="-78"/>
              </a:rPr>
              <a:t>طراحی و بهینه سازی مدل‌های پیش بینی </a:t>
            </a:r>
            <a:endParaRPr lang="en-US" sz="3200" b="1" dirty="0">
              <a:latin typeface="XB Zar" panose="02000506090000020003" pitchFamily="2" charset="-78"/>
              <a:cs typeface="XB Zar" panose="02000506090000020003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2B8215-4F84-47D7-9B2A-ACC6AE34895E}"/>
              </a:ext>
            </a:extLst>
          </p:cNvPr>
          <p:cNvSpPr txBox="1"/>
          <p:nvPr/>
        </p:nvSpPr>
        <p:spPr>
          <a:xfrm flipH="1">
            <a:off x="2205949" y="5765353"/>
            <a:ext cx="8197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3200" b="1" dirty="0">
                <a:latin typeface="XB Zar" panose="02000506090000020003" pitchFamily="2" charset="-78"/>
                <a:cs typeface="XB Zar" panose="02000506090000020003" pitchFamily="2" charset="-78"/>
              </a:rPr>
              <a:t>۴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  <a:cs typeface="B Zar" panose="00000400000000000000" pitchFamily="2" charset="-78"/>
              </a:rPr>
              <a:t>.</a:t>
            </a:r>
            <a:r>
              <a:rPr lang="fa-IR" sz="3200" b="1" dirty="0">
                <a:latin typeface="XB Zar" panose="02000506090000020003" pitchFamily="2" charset="-78"/>
                <a:cs typeface="XB Zar" panose="02000506090000020003" pitchFamily="2" charset="-78"/>
              </a:rPr>
              <a:t> نتایج خروجی و آزمایش</a:t>
            </a:r>
            <a:endParaRPr lang="en-US" sz="3200" b="1" dirty="0">
              <a:latin typeface="XB Zar" panose="02000506090000020003" pitchFamily="2" charset="-78"/>
              <a:cs typeface="XB Zar" panose="02000506090000020003" pitchFamily="2" charset="-78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B5612B4-B8B5-4482-A1CA-BED01B8C9648}"/>
              </a:ext>
            </a:extLst>
          </p:cNvPr>
          <p:cNvGrpSpPr/>
          <p:nvPr/>
        </p:nvGrpSpPr>
        <p:grpSpPr>
          <a:xfrm>
            <a:off x="707215" y="28479749"/>
            <a:ext cx="11423261" cy="7839076"/>
            <a:chOff x="707215" y="29508450"/>
            <a:chExt cx="11423261" cy="7799814"/>
          </a:xfrm>
        </p:grpSpPr>
        <p:sp>
          <p:nvSpPr>
            <p:cNvPr id="4212" name="Rectangle 1140"/>
            <p:cNvSpPr>
              <a:spLocks noChangeArrowheads="1"/>
            </p:cNvSpPr>
            <p:nvPr/>
          </p:nvSpPr>
          <p:spPr bwMode="auto">
            <a:xfrm>
              <a:off x="707215" y="29508450"/>
              <a:ext cx="11423261" cy="7799814"/>
            </a:xfrm>
            <a:prstGeom prst="rect">
              <a:avLst/>
            </a:prstGeom>
            <a:noFill/>
            <a:ln w="76200">
              <a:solidFill>
                <a:srgbClr val="326598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1E28F92-856A-4F9F-92D0-1290EBB47481}"/>
                </a:ext>
              </a:extLst>
            </p:cNvPr>
            <p:cNvSpPr txBox="1"/>
            <p:nvPr/>
          </p:nvSpPr>
          <p:spPr>
            <a:xfrm>
              <a:off x="1006296" y="29731411"/>
              <a:ext cx="11017607" cy="7478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Low" rtl="1"/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مدل "</a:t>
              </a:r>
              <a:r>
                <a:rPr lang="fa-IR" sz="3200" b="1" dirty="0">
                  <a:latin typeface="XB Zar" panose="02000506090000020003" pitchFamily="2" charset="-78"/>
                  <a:cs typeface="XB Zar" panose="02000506090000020003" pitchFamily="2" charset="-78"/>
                </a:rPr>
                <a:t>تقویت </a:t>
              </a:r>
              <a:r>
                <a:rPr lang="fa-IR" sz="3200" b="1" dirty="0" err="1">
                  <a:latin typeface="XB Zar" panose="02000506090000020003" pitchFamily="2" charset="-78"/>
                  <a:cs typeface="XB Zar" panose="02000506090000020003" pitchFamily="2" charset="-78"/>
                </a:rPr>
                <a:t>دسته‌ای</a:t>
              </a:r>
              <a:r>
                <a:rPr lang="fa-IR" sz="3200" b="1" dirty="0">
                  <a:latin typeface="XB Zar" panose="02000506090000020003" pitchFamily="2" charset="-78"/>
                  <a:cs typeface="XB Zar" panose="02000506090000020003" pitchFamily="2" charset="-78"/>
                </a:rPr>
                <a:t> اولیه 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" </a:t>
              </a:r>
              <a:r>
                <a:rPr lang="en-US" sz="3200" dirty="0" err="1">
                  <a:latin typeface="XB Zar" panose="02000506090000020003" pitchFamily="2" charset="-78"/>
                  <a:cs typeface="XB Zar" panose="02000506090000020003" pitchFamily="2" charset="-78"/>
                </a:rPr>
                <a:t>CatBoost</a:t>
              </a:r>
              <a:r>
                <a:rPr lang="en-US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)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)</a:t>
              </a:r>
              <a:r>
                <a:rPr lang="en-US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با کسب بالاترین ضریب تعیین (۰.۴۰۱۵)</a:t>
              </a:r>
              <a:r>
                <a:rPr lang="en-US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و</a:t>
              </a:r>
              <a:r>
                <a:rPr lang="en-US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کمترین میانگین </a:t>
              </a:r>
              <a:r>
                <a:rPr lang="fa-IR" sz="3200" dirty="0" err="1">
                  <a:latin typeface="XB Zar" panose="02000506090000020003" pitchFamily="2" charset="-78"/>
                  <a:cs typeface="XB Zar" panose="02000506090000020003" pitchFamily="2" charset="-78"/>
                </a:rPr>
                <a:t>قدرمطلق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خطا (۶.۴۳۸۲</a:t>
              </a:r>
              <a:r>
                <a:rPr lang="en-US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کیلوگرم)، بهترین عملکرد را نشان داد. این یعنی مدل ما </a:t>
              </a:r>
              <a:r>
                <a:rPr lang="fa-IR" sz="3200" dirty="0" err="1">
                  <a:latin typeface="XB Zar" panose="02000506090000020003" pitchFamily="2" charset="-78"/>
                  <a:cs typeface="XB Zar" panose="02000506090000020003" pitchFamily="2" charset="-78"/>
                </a:rPr>
                <a:t>می‌تواند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حدود ۴۰% از تغییرات واقعی در تولید شیر را توضیح دهد و </a:t>
              </a:r>
              <a:r>
                <a:rPr lang="fa-IR" sz="3200" dirty="0" err="1">
                  <a:latin typeface="XB Zar" panose="02000506090000020003" pitchFamily="2" charset="-78"/>
                  <a:cs typeface="XB Zar" panose="02000506090000020003" pitchFamily="2" charset="-78"/>
                </a:rPr>
                <a:t>پیش‌بینی‌های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آن به طور متوسط تنها حدود ۶.۴ کیلوگرم با واقعیت تفاوت دارند. این دقت برای کاربردهای عملی در دامداری بسیار ارزشمند است.</a:t>
              </a:r>
            </a:p>
            <a:p>
              <a:pPr algn="justLow" rtl="1"/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قابل ذکر است که دقت این مدل (ضریب تعیین ۴۰%)، حدود ۱۰ درصد بهبود نسبت به مدل آماری فعلی مورد استفاده در تعاونی دامداران وحدت استان اصفهان است که ضریب تعیین آن حدود ۳۰% گزارش شده.</a:t>
              </a:r>
            </a:p>
            <a:p>
              <a:pPr algn="justLow" rtl="1"/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این </a:t>
              </a:r>
              <a:r>
                <a:rPr lang="fa-IR" sz="3200" dirty="0" err="1">
                  <a:latin typeface="XB Zar" panose="02000506090000020003" pitchFamily="2" charset="-78"/>
                  <a:cs typeface="XB Zar" panose="02000506090000020003" pitchFamily="2" charset="-78"/>
                </a:rPr>
                <a:t>یافته‌ها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تأیید </a:t>
              </a:r>
              <a:r>
                <a:rPr lang="fa-IR" sz="3200" dirty="0" err="1">
                  <a:latin typeface="XB Zar" panose="02000506090000020003" pitchFamily="2" charset="-78"/>
                  <a:cs typeface="XB Zar" panose="02000506090000020003" pitchFamily="2" charset="-78"/>
                </a:rPr>
                <a:t>می‌کنند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که یادگیری ماشین، به ویژه مدل </a:t>
              </a:r>
              <a:r>
                <a:rPr lang="en-US" sz="3200" dirty="0" err="1">
                  <a:latin typeface="XB Zar" panose="02000506090000020003" pitchFamily="2" charset="-78"/>
                  <a:cs typeface="XB Zar" panose="02000506090000020003" pitchFamily="2" charset="-78"/>
                </a:rPr>
                <a:t>CatBoost</a:t>
              </a:r>
              <a:r>
                <a:rPr lang="en-US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، </a:t>
              </a:r>
              <a:r>
                <a:rPr lang="fa-IR" sz="3200" dirty="0" err="1">
                  <a:latin typeface="XB Zar" panose="02000506090000020003" pitchFamily="2" charset="-78"/>
                  <a:cs typeface="XB Zar" panose="02000506090000020003" pitchFamily="2" charset="-78"/>
                </a:rPr>
                <a:t>ابزری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قدرتمند برای </a:t>
              </a:r>
              <a:r>
                <a:rPr lang="fa-IR" sz="3200" dirty="0" err="1">
                  <a:latin typeface="XB Zar" panose="02000506090000020003" pitchFamily="2" charset="-78"/>
                  <a:cs typeface="XB Zar" panose="02000506090000020003" pitchFamily="2" charset="-78"/>
                </a:rPr>
                <a:t>پیش‌بینی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دقیق عملکرد </a:t>
              </a:r>
              <a:r>
                <a:rPr lang="fa-IR" sz="3200" dirty="0" err="1">
                  <a:latin typeface="XB Zar" panose="02000506090000020003" pitchFamily="2" charset="-78"/>
                  <a:cs typeface="XB Zar" panose="02000506090000020003" pitchFamily="2" charset="-78"/>
                </a:rPr>
                <a:t>گاوهای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شیری است. این </a:t>
              </a:r>
              <a:r>
                <a:rPr lang="fa-IR" sz="3200" dirty="0" err="1">
                  <a:latin typeface="XB Zar" panose="02000506090000020003" pitchFamily="2" charset="-78"/>
                  <a:cs typeface="XB Zar" panose="02000506090000020003" pitchFamily="2" charset="-78"/>
                </a:rPr>
                <a:t>پیش‌بینی‌ها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مستقیماً به محاسبه شاخص دوره انتقال </a:t>
              </a:r>
              <a:r>
                <a:rPr lang="en-US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TCI)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)</a:t>
              </a:r>
              <a:r>
                <a:rPr lang="en-US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کمک کرده و دامداران را قادر </a:t>
              </a:r>
              <a:r>
                <a:rPr lang="fa-IR" sz="3200" dirty="0" err="1">
                  <a:latin typeface="XB Zar" panose="02000506090000020003" pitchFamily="2" charset="-78"/>
                  <a:cs typeface="XB Zar" panose="02000506090000020003" pitchFamily="2" charset="-78"/>
                </a:rPr>
                <a:t>می‌سازند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</a:t>
              </a:r>
              <a:r>
                <a:rPr lang="fa-IR" sz="3200" dirty="0" err="1">
                  <a:latin typeface="XB Zar" panose="02000506090000020003" pitchFamily="2" charset="-78"/>
                  <a:cs typeface="XB Zar" panose="02000506090000020003" pitchFamily="2" charset="-78"/>
                </a:rPr>
                <a:t>تا:مشکلات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مدیریتی و بهداشتی را سریع‌تر تشخیص دهند، تصمیمات بهتری در مورد تغذیه و سلامت گله اتخاذ کنند و در نهایت، </a:t>
              </a:r>
              <a:r>
                <a:rPr lang="fa-IR" sz="3200" dirty="0" err="1">
                  <a:latin typeface="XB Zar" panose="02000506090000020003" pitchFamily="2" charset="-78"/>
                  <a:cs typeface="XB Zar" panose="02000506090000020003" pitchFamily="2" charset="-78"/>
                </a:rPr>
                <a:t>بهره‌وری</a:t>
              </a:r>
              <a:r>
                <a:rPr lang="fa-IR" sz="3200" dirty="0">
                  <a:latin typeface="XB Zar" panose="02000506090000020003" pitchFamily="2" charset="-78"/>
                  <a:cs typeface="XB Zar" panose="02000506090000020003" pitchFamily="2" charset="-78"/>
                </a:rPr>
                <a:t> و سودآوری دامداری را افزایش دهند.</a:t>
              </a:r>
              <a:endParaRPr lang="en-US" sz="3200" dirty="0">
                <a:latin typeface="XB Zar" panose="02000506090000020003" pitchFamily="2" charset="-78"/>
                <a:cs typeface="XB Zar" panose="02000506090000020003" pitchFamily="2" charset="-78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1B1947A-27EB-4A5D-823C-AA30C4A8B2A7}"/>
              </a:ext>
            </a:extLst>
          </p:cNvPr>
          <p:cNvSpPr txBox="1"/>
          <p:nvPr/>
        </p:nvSpPr>
        <p:spPr>
          <a:xfrm>
            <a:off x="3227714" y="27529467"/>
            <a:ext cx="6153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200" b="1" dirty="0">
                <a:cs typeface="B Zar" panose="00000400000000000000" pitchFamily="2" charset="-78"/>
              </a:rPr>
              <a:t>5. </a:t>
            </a:r>
            <a:r>
              <a:rPr lang="fa-IR" sz="3200" b="1" dirty="0" err="1">
                <a:latin typeface="XB Zar" panose="02000506090000020003" pitchFamily="2" charset="-78"/>
                <a:cs typeface="XB Zar" panose="02000506090000020003" pitchFamily="2" charset="-78"/>
              </a:rPr>
              <a:t>نتیجه‌گیری</a:t>
            </a:r>
            <a:endParaRPr lang="en-US" sz="3200" b="1" dirty="0">
              <a:latin typeface="XB Zar" panose="02000506090000020003" pitchFamily="2" charset="-78"/>
              <a:cs typeface="XB Zar" panose="02000506090000020003" pitchFamily="2" charset="-78"/>
            </a:endParaRPr>
          </a:p>
        </p:txBody>
      </p:sp>
      <p:sp>
        <p:nvSpPr>
          <p:cNvPr id="4236" name="Rectangle 1164"/>
          <p:cNvSpPr>
            <a:spLocks noChangeArrowheads="1"/>
          </p:cNvSpPr>
          <p:nvPr/>
        </p:nvSpPr>
        <p:spPr bwMode="auto">
          <a:xfrm>
            <a:off x="12585284" y="28005814"/>
            <a:ext cx="14644394" cy="8317999"/>
          </a:xfrm>
          <a:prstGeom prst="rect">
            <a:avLst/>
          </a:prstGeom>
          <a:noFill/>
          <a:ln w="76200">
            <a:solidFill>
              <a:srgbClr val="326598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 dirty="0"/>
          </a:p>
        </p:txBody>
      </p:sp>
      <p:sp>
        <p:nvSpPr>
          <p:cNvPr id="4241" name="Rectangle 1169"/>
          <p:cNvSpPr>
            <a:spLocks noChangeArrowheads="1"/>
          </p:cNvSpPr>
          <p:nvPr/>
        </p:nvSpPr>
        <p:spPr bwMode="auto">
          <a:xfrm>
            <a:off x="12573000" y="26917217"/>
            <a:ext cx="14644394" cy="914400"/>
          </a:xfrm>
          <a:prstGeom prst="rect">
            <a:avLst/>
          </a:prstGeom>
          <a:solidFill>
            <a:srgbClr val="00B0F0">
              <a:alpha val="10001"/>
            </a:srgbClr>
          </a:solidFill>
          <a:ln w="76200">
            <a:solidFill>
              <a:srgbClr val="326598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3759200"/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875907-6D3E-4332-8F6E-D44A00C76D4E}"/>
              </a:ext>
            </a:extLst>
          </p:cNvPr>
          <p:cNvSpPr txBox="1"/>
          <p:nvPr/>
        </p:nvSpPr>
        <p:spPr>
          <a:xfrm>
            <a:off x="12881276" y="28143268"/>
            <a:ext cx="14226259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fa-IR" sz="3200" b="1" dirty="0">
                <a:latin typeface="XB Zar" panose="02000506090000020003" pitchFamily="2" charset="-78"/>
                <a:cs typeface="XB Zar" panose="02000506090000020003" pitchFamily="2" charset="-78"/>
              </a:rPr>
              <a:t>انتخاب و مهندسی </a:t>
            </a:r>
            <a:r>
              <a:rPr lang="fa-IR" sz="3200" b="1" dirty="0" err="1">
                <a:latin typeface="XB Zar" panose="02000506090000020003" pitchFamily="2" charset="-78"/>
                <a:cs typeface="XB Zar" panose="02000506090000020003" pitchFamily="2" charset="-78"/>
              </a:rPr>
              <a:t>ویژگی‌ها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: از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مجموعه‌ای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از ۱۰ ویژگی کلیدی شامل:</a:t>
            </a:r>
          </a:p>
          <a:p>
            <a:pPr algn="justLow" rtl="1"/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</a:t>
            </a:r>
            <a:r>
              <a:rPr lang="en-US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milkperiod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، </a:t>
            </a:r>
            <a:r>
              <a:rPr lang="en-US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zdate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، </a:t>
            </a:r>
            <a:r>
              <a:rPr lang="en-US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zdate_month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، </a:t>
            </a:r>
            <a:r>
              <a:rPr lang="en-US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firstmilkdays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، </a:t>
            </a:r>
            <a:r>
              <a:rPr lang="en-US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prelendays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، </a:t>
            </a:r>
            <a:r>
              <a:rPr lang="en-US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drylendays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، </a:t>
            </a:r>
            <a:r>
              <a:rPr lang="en-US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milkdays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، previous_Milk305، </a:t>
            </a:r>
            <a:r>
              <a:rPr lang="en-US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firstmilk_previous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، 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و 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SCS_305</a:t>
            </a:r>
            <a:endParaRPr lang="fa-IR" sz="3200" dirty="0">
              <a:latin typeface="XB Zar" panose="02000506090000020003" pitchFamily="2" charset="-78"/>
              <a:cs typeface="XB Zar" panose="02000506090000020003" pitchFamily="2" charset="-78"/>
            </a:endParaRPr>
          </a:p>
          <a:p>
            <a:pPr algn="justLow" rtl="1"/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 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برای آموزش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مدل‌ها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استفاده شد. "اولین رکورد شیر"</a:t>
            </a:r>
            <a:r>
              <a:rPr lang="en-US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firstmilk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)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)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 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به عنوان متغیر هدف در نظر گرفته شد. در برخی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مدل‌ها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، متغیر ترکیبی "گروه" 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grp)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)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 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که ترکیبی از "دوره شیردهی"، "ماه زایش"، و "طول آبستنی" بود، به جای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ویژگی‌های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زمانی و دوره شیردهی گاوها، برای بررسی تأثیرات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دسته‌بندی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گاوها بر دقت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پیش‌بینی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، مورد استفاده قرار گرفت.</a:t>
            </a:r>
          </a:p>
          <a:p>
            <a:pPr algn="justLow" rtl="1"/>
            <a:r>
              <a:rPr lang="fa-IR" sz="3200" b="1" dirty="0">
                <a:latin typeface="XB Zar" panose="02000506090000020003" pitchFamily="2" charset="-78"/>
                <a:cs typeface="XB Zar" panose="02000506090000020003" pitchFamily="2" charset="-78"/>
              </a:rPr>
              <a:t>آموزش و </a:t>
            </a:r>
            <a:r>
              <a:rPr lang="fa-IR" sz="3200" b="1" dirty="0" err="1">
                <a:latin typeface="XB Zar" panose="02000506090000020003" pitchFamily="2" charset="-78"/>
                <a:cs typeface="XB Zar" panose="02000506090000020003" pitchFamily="2" charset="-78"/>
              </a:rPr>
              <a:t>بهینه‌سازی</a:t>
            </a:r>
            <a:r>
              <a:rPr lang="fa-IR" sz="3200" b="1" dirty="0">
                <a:latin typeface="XB Zar" panose="02000506090000020003" pitchFamily="2" charset="-78"/>
                <a:cs typeface="XB Zar" panose="02000506090000020003" pitchFamily="2" charset="-78"/>
              </a:rPr>
              <a:t> </a:t>
            </a:r>
            <a:r>
              <a:rPr lang="fa-IR" sz="3200" b="1" dirty="0" err="1">
                <a:latin typeface="XB Zar" panose="02000506090000020003" pitchFamily="2" charset="-78"/>
                <a:cs typeface="XB Zar" panose="02000506090000020003" pitchFamily="2" charset="-78"/>
              </a:rPr>
              <a:t>مدل‌ها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: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مدل‌ها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ابتدا با پارامترهای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پیش‌فرض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روی مجموعه آموزش (۷۰%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داده‌ها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) آموزش داده شدند. برای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بهینه‌سازی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، پارامترهایی مانند نرخ یادگیری، تعداد تکرارها، عمق درختان، و ضریب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منظم‌سازی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با روش "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جست‌وجوی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</a:t>
            </a:r>
            <a:r>
              <a:rPr lang="fa-IR" sz="3200">
                <a:latin typeface="XB Zar" panose="02000506090000020003" pitchFamily="2" charset="-78"/>
                <a:cs typeface="XB Zar" panose="02000506090000020003" pitchFamily="2" charset="-78"/>
              </a:rPr>
              <a:t>شبکه‌ای" 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Grid Search)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)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 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و ارزیابی روی مجموعه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اعتبارسنجی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(۱۵%) تنظیم شدند. برای جلوگیری از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بیش‌برازش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و اطمینان از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تعمیم‌پذیری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، از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اعتبارسنجی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متقاطع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پنج‌تایی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در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مدل‌هایی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مثل جنگل تصادفی استفاده شد.</a:t>
            </a:r>
            <a:endParaRPr lang="fa-IR" sz="3200" b="1" dirty="0">
              <a:latin typeface="XB Zar" panose="02000506090000020003" pitchFamily="2" charset="-78"/>
              <a:cs typeface="XB Zar" panose="02000506090000020003" pitchFamily="2" charset="-78"/>
            </a:endParaRPr>
          </a:p>
          <a:p>
            <a:pPr algn="justLow" rtl="1"/>
            <a:r>
              <a:rPr lang="fa-IR" sz="3200" b="1" dirty="0">
                <a:latin typeface="XB Zar" panose="02000506090000020003" pitchFamily="2" charset="-78"/>
                <a:cs typeface="XB Zar" panose="02000506090000020003" pitchFamily="2" charset="-78"/>
              </a:rPr>
              <a:t>ارزیابی نهایی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: عملکرد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مدل‌ها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صرفاً روی مجموعه آزمون (۱۵%)، که از فرآیند آموزش و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بهینه‌سازی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جدا بود، سنجیده شد تا تخمین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بی‌طرفانه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و دقیقی از کارایی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مدل‌ها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روی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داده‌های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ندیده ارائه دهد.</a:t>
            </a:r>
          </a:p>
          <a:p>
            <a:pPr algn="justLow" rtl="1"/>
            <a:r>
              <a:rPr lang="fa-IR" sz="3200" b="1" dirty="0">
                <a:latin typeface="XB Zar" panose="02000506090000020003" pitchFamily="2" charset="-78"/>
                <a:cs typeface="XB Zar" panose="02000506090000020003" pitchFamily="2" charset="-78"/>
              </a:rPr>
              <a:t>مقایسه و انتخاب مدل نهایی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: با مقایسه جامع معیارهای مختلف، الگوریتم برتر برای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پیش‌بینی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اولین رکورد شیر و محاسبه شاخص دوره انتقال 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TCI)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)</a:t>
            </a:r>
            <a:r>
              <a:rPr lang="en-US" sz="3200" dirty="0">
                <a:latin typeface="XB Zar" panose="02000506090000020003" pitchFamily="2" charset="-78"/>
                <a:cs typeface="XB Zar" panose="02000506090000020003" pitchFamily="2" charset="-78"/>
              </a:rPr>
              <a:t> 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شناسایی شد. </a:t>
            </a:r>
            <a:endParaRPr lang="en-US" sz="3200" dirty="0">
              <a:latin typeface="XB Zar" panose="02000506090000020003" pitchFamily="2" charset="-78"/>
              <a:cs typeface="XB Zar" panose="02000506090000020003" pitchFamily="2" charset="-78"/>
            </a:endParaRPr>
          </a:p>
        </p:txBody>
      </p:sp>
      <p:graphicFrame>
        <p:nvGraphicFramePr>
          <p:cNvPr id="17" name="Table 19">
            <a:extLst>
              <a:ext uri="{FF2B5EF4-FFF2-40B4-BE49-F238E27FC236}">
                <a16:creationId xmlns:a16="http://schemas.microsoft.com/office/drawing/2014/main" id="{7A9867D0-6ECB-4D50-A8D3-C3C1A280F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027453"/>
              </p:ext>
            </p:extLst>
          </p:nvPr>
        </p:nvGraphicFramePr>
        <p:xfrm>
          <a:off x="922337" y="7546764"/>
          <a:ext cx="10951724" cy="1937045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64532">
                  <a:extLst>
                    <a:ext uri="{9D8B030D-6E8A-4147-A177-3AD203B41FA5}">
                      <a16:colId xmlns:a16="http://schemas.microsoft.com/office/drawing/2014/main" val="1419930083"/>
                    </a:ext>
                  </a:extLst>
                </a:gridCol>
                <a:gridCol w="1564532">
                  <a:extLst>
                    <a:ext uri="{9D8B030D-6E8A-4147-A177-3AD203B41FA5}">
                      <a16:colId xmlns:a16="http://schemas.microsoft.com/office/drawing/2014/main" val="1768724152"/>
                    </a:ext>
                  </a:extLst>
                </a:gridCol>
                <a:gridCol w="1564532">
                  <a:extLst>
                    <a:ext uri="{9D8B030D-6E8A-4147-A177-3AD203B41FA5}">
                      <a16:colId xmlns:a16="http://schemas.microsoft.com/office/drawing/2014/main" val="2328831584"/>
                    </a:ext>
                  </a:extLst>
                </a:gridCol>
                <a:gridCol w="1564532">
                  <a:extLst>
                    <a:ext uri="{9D8B030D-6E8A-4147-A177-3AD203B41FA5}">
                      <a16:colId xmlns:a16="http://schemas.microsoft.com/office/drawing/2014/main" val="3700484717"/>
                    </a:ext>
                  </a:extLst>
                </a:gridCol>
                <a:gridCol w="1564532">
                  <a:extLst>
                    <a:ext uri="{9D8B030D-6E8A-4147-A177-3AD203B41FA5}">
                      <a16:colId xmlns:a16="http://schemas.microsoft.com/office/drawing/2014/main" val="2914955810"/>
                    </a:ext>
                  </a:extLst>
                </a:gridCol>
                <a:gridCol w="1564532">
                  <a:extLst>
                    <a:ext uri="{9D8B030D-6E8A-4147-A177-3AD203B41FA5}">
                      <a16:colId xmlns:a16="http://schemas.microsoft.com/office/drawing/2014/main" val="2813236027"/>
                    </a:ext>
                  </a:extLst>
                </a:gridCol>
                <a:gridCol w="1564532">
                  <a:extLst>
                    <a:ext uri="{9D8B030D-6E8A-4147-A177-3AD203B41FA5}">
                      <a16:colId xmlns:a16="http://schemas.microsoft.com/office/drawing/2014/main" val="2685922946"/>
                    </a:ext>
                  </a:extLst>
                </a:gridCol>
              </a:tblGrid>
              <a:tr h="565131">
                <a:tc>
                  <a:txBody>
                    <a:bodyPr/>
                    <a:lstStyle/>
                    <a:p>
                      <a:pPr algn="ctr" rtl="0" fontAlgn="b"/>
                      <a:r>
                        <a:rPr lang="fa-IR" sz="2000" dirty="0">
                          <a:effectLst/>
                        </a:rPr>
                        <a:t>مدل</a:t>
                      </a:r>
                      <a:endParaRPr lang="fa-IR" sz="2000" b="1" dirty="0">
                        <a:effectLst/>
                        <a:latin typeface="XB Zar" panose="02000506090000020003" pitchFamily="2" charset="-78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R2</a:t>
                      </a:r>
                      <a:endParaRPr lang="en-US" sz="2000" b="1" dirty="0">
                        <a:effectLst/>
                        <a:latin typeface="XB Zar" panose="02000506090000020003" pitchFamily="2" charset="-78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MAE</a:t>
                      </a:r>
                      <a:endParaRPr lang="en-US" sz="2000" b="1" dirty="0">
                        <a:effectLst/>
                        <a:latin typeface="XB Zar" panose="02000506090000020003" pitchFamily="2" charset="-78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RMSE</a:t>
                      </a:r>
                      <a:endParaRPr lang="en-US" sz="2000" b="1" dirty="0">
                        <a:effectLst/>
                        <a:latin typeface="XB Zar" panose="02000506090000020003" pitchFamily="2" charset="-78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MPE (%)</a:t>
                      </a:r>
                      <a:endParaRPr lang="en-US" sz="2000" b="1" dirty="0">
                        <a:effectLst/>
                        <a:latin typeface="XB Zar" panose="02000506090000020003" pitchFamily="2" charset="-78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 err="1">
                          <a:effectLst/>
                        </a:rPr>
                        <a:t>sMAPE</a:t>
                      </a:r>
                      <a:r>
                        <a:rPr lang="en-US" sz="2000" dirty="0">
                          <a:effectLst/>
                        </a:rPr>
                        <a:t> (%)</a:t>
                      </a:r>
                      <a:endParaRPr lang="en-US" sz="2000" b="1" dirty="0">
                        <a:effectLst/>
                        <a:latin typeface="XB Zar" panose="02000506090000020003" pitchFamily="2" charset="-78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SDR</a:t>
                      </a:r>
                      <a:endParaRPr lang="en-US" sz="2000" b="1" dirty="0">
                        <a:effectLst/>
                        <a:latin typeface="XB Zar" panose="02000506090000020003" pitchFamily="2" charset="-78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81554346"/>
                  </a:ext>
                </a:extLst>
              </a:tr>
              <a:tr h="56513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Ridge Initial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0.311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7.028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9.207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-8.085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17.684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0.517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37393069"/>
                  </a:ext>
                </a:extLst>
              </a:tr>
              <a:tr h="56513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Ridge Tuned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0.313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7.006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9.191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-7.878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17.664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0.557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6242976"/>
                  </a:ext>
                </a:extLst>
              </a:tr>
              <a:tr h="105389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RF Initial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0.348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6.829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8.958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-6.936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17.223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0.611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21452464"/>
                  </a:ext>
                </a:extLst>
              </a:tr>
              <a:tr h="105389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RF Tuned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0.358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6.759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8.891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-7.316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17.055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0.603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57923544"/>
                  </a:ext>
                </a:extLst>
              </a:tr>
              <a:tr h="20314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RF with CV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0.353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6.785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8.925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-7.611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17.093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0.574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583037"/>
                  </a:ext>
                </a:extLst>
              </a:tr>
              <a:tr h="15426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RF Initial with grp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0.340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6.879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9.011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-6.964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17.342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0.614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10144666"/>
                  </a:ext>
                </a:extLst>
              </a:tr>
              <a:tr h="15426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RF Tuned with grp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0.351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6.793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8.933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-7.609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17.112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0.575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0988426"/>
                  </a:ext>
                </a:extLst>
              </a:tr>
              <a:tr h="203141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RF with CV grp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0.351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6.793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8.933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-7.609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17.112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0.575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53476280"/>
                  </a:ext>
                </a:extLst>
              </a:tr>
              <a:tr h="56513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SVR Linear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0.307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6.971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9.233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-9.731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17.584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0.585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97155305"/>
                  </a:ext>
                </a:extLst>
              </a:tr>
              <a:tr h="105389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SVR Polynomial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0.265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7.216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9.511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-9.821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18.176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0.555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4912783"/>
                  </a:ext>
                </a:extLst>
              </a:tr>
              <a:tr h="56513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SVR RBF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0.364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6.638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8.844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-9.238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16.759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0.616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11793836"/>
                  </a:ext>
                </a:extLst>
              </a:tr>
              <a:tr h="105389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SVR RBF Robust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0.360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6.644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8.861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-9.240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16.776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0.617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36839773"/>
                  </a:ext>
                </a:extLst>
              </a:tr>
              <a:tr h="56513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>
                          <a:effectLst/>
                        </a:rPr>
                        <a:t>XGBoost</a:t>
                      </a:r>
                      <a:endParaRPr lang="en-US" sz="20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0.367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6.691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8.827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-7.290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16.906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0.618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72677632"/>
                  </a:ext>
                </a:extLst>
              </a:tr>
              <a:tr h="80294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 err="1">
                          <a:effectLst/>
                        </a:rPr>
                        <a:t>XGBoost</a:t>
                      </a:r>
                      <a:r>
                        <a:rPr lang="en-US" sz="2000" dirty="0">
                          <a:effectLst/>
                        </a:rPr>
                        <a:t> Tuned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0.373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6.660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8.783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-7.319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16.822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0.606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9229647"/>
                  </a:ext>
                </a:extLst>
              </a:tr>
              <a:tr h="57495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 err="1">
                          <a:effectLst/>
                        </a:rPr>
                        <a:t>CatBoost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0.402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6.438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8.504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-6.667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16.215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0.629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996593"/>
                  </a:ext>
                </a:extLst>
              </a:tr>
              <a:tr h="105389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 err="1">
                          <a:effectLst/>
                        </a:rPr>
                        <a:t>CatBoost</a:t>
                      </a:r>
                      <a:r>
                        <a:rPr lang="en-US" sz="2000" dirty="0">
                          <a:effectLst/>
                        </a:rPr>
                        <a:t> Tuned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0.386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6.539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8.615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-6.857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16.45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0.608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3608091"/>
                  </a:ext>
                </a:extLst>
              </a:tr>
              <a:tr h="105389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 err="1">
                          <a:effectLst/>
                        </a:rPr>
                        <a:t>CatBoost</a:t>
                      </a:r>
                      <a:r>
                        <a:rPr lang="en-US" sz="2000" dirty="0">
                          <a:effectLst/>
                        </a:rPr>
                        <a:t> Standard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0.373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6.659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8.785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-7.344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16.816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0.604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38867856"/>
                  </a:ext>
                </a:extLst>
              </a:tr>
              <a:tr h="56513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MLP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0.370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6.654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8.803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-7.646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16.808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0.620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615187"/>
                  </a:ext>
                </a:extLst>
              </a:tr>
              <a:tr h="56513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DNN</a:t>
                      </a:r>
                      <a:endParaRPr lang="en-US" sz="20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</a:rPr>
                        <a:t>0.369</a:t>
                      </a:r>
                      <a:endParaRPr lang="en-US" sz="2400" b="1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6.693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8.813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-6.889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16.899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</a:rPr>
                        <a:t>0.608</a:t>
                      </a:r>
                      <a:endParaRPr lang="en-US" sz="24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XB Zar" panose="02000506090000020003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5168796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BD9AA371-7BB5-4399-B4E7-CA03B86AFA82}"/>
              </a:ext>
            </a:extLst>
          </p:cNvPr>
          <p:cNvSpPr txBox="1"/>
          <p:nvPr/>
        </p:nvSpPr>
        <p:spPr>
          <a:xfrm>
            <a:off x="1221757" y="6822467"/>
            <a:ext cx="10652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نتایج </a:t>
            </a:r>
            <a:r>
              <a:rPr lang="fa-IR" sz="3200" dirty="0" err="1">
                <a:latin typeface="XB Zar" panose="02000506090000020003" pitchFamily="2" charset="-78"/>
                <a:cs typeface="XB Zar" panose="02000506090000020003" pitchFamily="2" charset="-78"/>
              </a:rPr>
              <a:t>معیار‌های</a:t>
            </a:r>
            <a:r>
              <a:rPr lang="fa-IR" sz="3200" dirty="0">
                <a:latin typeface="XB Zar" panose="02000506090000020003" pitchFamily="2" charset="-78"/>
                <a:cs typeface="XB Zar" panose="02000506090000020003" pitchFamily="2" charset="-78"/>
              </a:rPr>
              <a:t> ارزیابی برای ۱۹ مدلی که توسعه دادیم به صورت زیر است:</a:t>
            </a:r>
            <a:endParaRPr lang="en-US" sz="3200" dirty="0">
              <a:latin typeface="XB Zar" panose="02000506090000020003" pitchFamily="2" charset="-78"/>
              <a:cs typeface="XB Zar" panose="02000506090000020003" pitchFamily="2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3759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7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3759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7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7007</TotalTime>
  <Words>1252</Words>
  <Application>Microsoft Office PowerPoint</Application>
  <PresentationFormat>Custom</PresentationFormat>
  <Paragraphs>175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Cambria</vt:lpstr>
      <vt:lpstr>Cambria Math</vt:lpstr>
      <vt:lpstr>Times New Roman</vt:lpstr>
      <vt:lpstr>XB Zar</vt:lpstr>
      <vt:lpstr>Default Design</vt:lpstr>
      <vt:lpstr>Equation</vt:lpstr>
      <vt:lpstr>PowerPoint Presentation</vt:lpstr>
    </vt:vector>
  </TitlesOfParts>
  <Company>Columbia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Sample1</dc:title>
  <dc:creator>Tabesh</dc:creator>
  <cp:lastModifiedBy>Sepehr Ebadi</cp:lastModifiedBy>
  <cp:revision>150</cp:revision>
  <dcterms:created xsi:type="dcterms:W3CDTF">2006-05-12T18:19:44Z</dcterms:created>
  <dcterms:modified xsi:type="dcterms:W3CDTF">2025-07-21T08:12:11Z</dcterms:modified>
</cp:coreProperties>
</file>